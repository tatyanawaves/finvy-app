
<file path=[Content_Types].xml><?xml version="1.0" encoding="utf-8"?>
<Types xmlns="http://schemas.openxmlformats.org/package/2006/content-types">
  <Override PartName="/docProps/core.xml" ContentType="application/vnd.openxmlformats-package.core-properties+xml"/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embeddedFontLst>
    <p:embeddedFont>
      <p:font typeface="Inter"/>
      <p:regular r:id="rId16"/>
      <p:bold r:id="rId17"/>
      <p:italic r:id="rId18"/>
      <p:boldItalic r:id="rId19"/>
    </p:embeddedFont>
    <p:embeddedFont>
      <p:font typeface="Inter Tigh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Tight-regular.fntdata"/><Relationship Id="rId11" Type="http://schemas.openxmlformats.org/officeDocument/2006/relationships/slide" Target="slides/slide7.xml"/><Relationship Id="rId22" Type="http://schemas.openxmlformats.org/officeDocument/2006/relationships/font" Target="fonts/InterTight-italic.fntdata"/><Relationship Id="rId10" Type="http://schemas.openxmlformats.org/officeDocument/2006/relationships/slide" Target="slides/slide6.xml"/><Relationship Id="rId21" Type="http://schemas.openxmlformats.org/officeDocument/2006/relationships/font" Target="fonts/InterTight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font" Target="fonts/InterTight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Inter-bold.fntdata"/><Relationship Id="rId16" Type="http://schemas.openxmlformats.org/officeDocument/2006/relationships/font" Target="fonts/Inter-regular.fntdata"/><Relationship Id="rId5" Type="http://schemas.openxmlformats.org/officeDocument/2006/relationships/slide" Target="slides/slide1.xml"/><Relationship Id="rId19" Type="http://schemas.openxmlformats.org/officeDocument/2006/relationships/font" Target="fonts/Inter-boldItalic.fntdata"/><Relationship Id="rId6" Type="http://schemas.openxmlformats.org/officeDocument/2006/relationships/slide" Target="slides/slide2.xml"/><Relationship Id="rId18" Type="http://schemas.openxmlformats.org/officeDocument/2006/relationships/font" Target="fonts/Inter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dda7771293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g3dda7771293_3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3dda7771293_3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Relationship Id="rId2" Type="http://schemas.openxmlformats.org/officeDocument/2006/relationships/image" Target="../media/image22.png" /><Relationship Id="rId4" Type="http://schemas.openxmlformats.org/officeDocument/2006/relationships/image" Target="../media/image6.png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Relationship Id="rId2" Type="http://schemas.openxmlformats.org/officeDocument/2006/relationships/image" Target="../media/image22.png" /><Relationship Id="rId4" Type="http://schemas.openxmlformats.org/officeDocument/2006/relationships/image" Target="../media/image6.png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Relationship Id="rId2" Type="http://schemas.openxmlformats.org/officeDocument/2006/relationships/image" Target="../media/image22.png" /><Relationship Id="rId4" Type="http://schemas.openxmlformats.org/officeDocument/2006/relationships/image" Target="../media/image6.png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Relationship Id="rId2" Type="http://schemas.openxmlformats.org/officeDocument/2006/relationships/image" Target="../media/image22.png" /><Relationship Id="rId4" Type="http://schemas.openxmlformats.org/officeDocument/2006/relationships/image" Target="../media/image6.png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Relationship Id="rId2" Type="http://schemas.openxmlformats.org/officeDocument/2006/relationships/image" Target="../media/image22.png" /><Relationship Id="rId4" Type="http://schemas.openxmlformats.org/officeDocument/2006/relationships/image" Target="../media/image6.png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Relationship Id="rId2" Type="http://schemas.openxmlformats.org/officeDocument/2006/relationships/image" Target="../media/image22.png" /><Relationship Id="rId4" Type="http://schemas.openxmlformats.org/officeDocument/2006/relationships/image" Target="../media/image6.png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Relationship Id="rId2" Type="http://schemas.openxmlformats.org/officeDocument/2006/relationships/image" Target="../media/image22.png" /><Relationship Id="rId4" Type="http://schemas.openxmlformats.org/officeDocument/2006/relationships/image" Target="../media/image6.png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Relationship Id="rId2" Type="http://schemas.openxmlformats.org/officeDocument/2006/relationships/image" Target="../media/image22.png" /><Relationship Id="rId4" Type="http://schemas.openxmlformats.org/officeDocument/2006/relationships/image" Target="../media/image6.png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Relationship Id="rId2" Type="http://schemas.openxmlformats.org/officeDocument/2006/relationships/image" Target="../media/image22.png" /><Relationship Id="rId4" Type="http://schemas.openxmlformats.org/officeDocument/2006/relationships/image" Target="../media/image6.png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Relationship Id="rId2" Type="http://schemas.openxmlformats.org/officeDocument/2006/relationships/image" Target="../media/image22.png" /><Relationship Id="rId4" Type="http://schemas.openxmlformats.org/officeDocument/2006/relationships/image" Target="../media/image6.png" 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matchingName="Slide 2 master">
  <p:cSld name="Slide 2 master">
    <p:bg>
      <p:bgPr>
        <a:solidFill>
          <a:srgbClr val="00000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matchingName="Slide 3 master">
  <p:cSld name="Slide 3 master">
    <p:bg>
      <p:bgPr>
        <a:solidFill>
          <a:srgbClr val="00000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matchingName="Slide 4 master">
  <p:cSld name="Slide 4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matchingName="Slide 5 master">
  <p:cSld name="Slide 5 master">
    <p:bg>
      <p:bgPr>
        <a:solidFill>
          <a:srgbClr val="000000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matchingName="Slide 6 master">
  <p:cSld name="Slide 6 master">
    <p:bg>
      <p:bgPr>
        <a:solidFill>
          <a:srgbClr val="000000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matchingName="Slide 7 master">
  <p:cSld name="Slide 7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matchingName="Slide 8 master">
  <p:cSld name="Slide 8 master">
    <p:bg>
      <p:bgPr>
        <a:solidFill>
          <a:srgbClr val="000000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" name="Google Shape;3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matchingName="Slide 9 master">
  <p:cSld name="Slide 9 master">
    <p:bg>
      <p:bgPr>
        <a:solidFill>
          <a:srgbClr val="000000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" name="Google Shape;4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matchingName="Slide 10 master">
  <p:cSld name="Slide 10 master">
    <p:bg>
      <p:bgPr>
        <a:solidFill>
          <a:srgbClr val="00000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" name="Google Shape;4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jpg"/><Relationship Id="rId4" Type="http://schemas.openxmlformats.org/officeDocument/2006/relationships/image" Target="../media/image16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550664" y="886048"/>
            <a:ext cx="3059609" cy="382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F0FCFF"/>
                </a:solidFill>
                <a:latin typeface="Inter"/>
                <a:ea typeface="Inter"/>
                <a:cs typeface="Inter"/>
                <a:sym typeface="Inter"/>
              </a:rPr>
              <a:t>Finvy</a:t>
            </a:r>
            <a:endParaRPr b="0" i="0" sz="2400" u="none" cap="none" strike="noStrike"/>
          </a:p>
        </p:txBody>
      </p:sp>
      <p:sp>
        <p:nvSpPr>
          <p:cNvPr id="57" name="Google Shape;57;p13"/>
          <p:cNvSpPr/>
          <p:nvPr/>
        </p:nvSpPr>
        <p:spPr>
          <a:xfrm>
            <a:off x="550664" y="1307083"/>
            <a:ext cx="4657651" cy="305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1900"/>
              <a:buFont typeface="Inter"/>
              <a:buNone/>
            </a:pPr>
            <a:r>
              <a:rPr b="1" i="0" lang="en-US" sz="1900" u="none" cap="none" strike="noStrike">
                <a:solidFill>
                  <a:srgbClr val="F0FCFF"/>
                </a:solidFill>
                <a:latin typeface="Inter"/>
                <a:ea typeface="Inter"/>
                <a:cs typeface="Inter"/>
                <a:sym typeface="Inter"/>
              </a:rPr>
              <a:t>AI-финдиректор для МСБ Казахстана</a:t>
            </a:r>
            <a:endParaRPr b="0" i="0" sz="1900" u="none" cap="none" strike="noStrike"/>
          </a:p>
        </p:txBody>
      </p:sp>
      <p:sp>
        <p:nvSpPr>
          <p:cNvPr id="58" name="Google Shape;58;p13"/>
          <p:cNvSpPr/>
          <p:nvPr/>
        </p:nvSpPr>
        <p:spPr>
          <a:xfrm>
            <a:off x="550664" y="1757511"/>
            <a:ext cx="8042672" cy="548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703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350"/>
              <a:buFont typeface="Inter Tight"/>
              <a:buNone/>
            </a:pPr>
            <a:r>
              <a:rPr b="0" i="0" lang="en-US" sz="13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Помогаем малым компаниям вести финансовый учёт в период взрывного роста. Банки, </a:t>
            </a:r>
            <a:r>
              <a:rPr lang="en-US" sz="1350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крипто кошельки</a:t>
            </a:r>
            <a:r>
              <a:rPr b="0" i="0" lang="en-US" sz="13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, наличные, P&amp;L, налоги и AI-рекомендации собираются в одном управленческом контуре — без найма бухгалтера и без Excel.</a:t>
            </a:r>
            <a:endParaRPr b="0" i="0" sz="1350" u="none" cap="none" strike="noStrike"/>
          </a:p>
        </p:txBody>
      </p:sp>
      <p:sp>
        <p:nvSpPr>
          <p:cNvPr id="59" name="Google Shape;59;p13"/>
          <p:cNvSpPr/>
          <p:nvPr/>
        </p:nvSpPr>
        <p:spPr>
          <a:xfrm>
            <a:off x="550664" y="2522860"/>
            <a:ext cx="2456631" cy="883965"/>
          </a:xfrm>
          <a:prstGeom prst="roundRect">
            <a:avLst>
              <a:gd fmla="val 23364" name="adj"/>
            </a:avLst>
          </a:prstGeom>
          <a:solidFill>
            <a:srgbClr val="0A081B"/>
          </a:solidFill>
          <a:ln cap="flat" cmpd="sng" w="14275">
            <a:solidFill>
              <a:srgbClr val="16FF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702618" y="2674813"/>
            <a:ext cx="1529804" cy="1912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Раунд</a:t>
            </a:r>
            <a:endParaRPr b="0" i="0" sz="1200" u="none" cap="none" strike="noStrike"/>
          </a:p>
        </p:txBody>
      </p:sp>
      <p:sp>
        <p:nvSpPr>
          <p:cNvPr id="61" name="Google Shape;61;p13"/>
          <p:cNvSpPr/>
          <p:nvPr/>
        </p:nvSpPr>
        <p:spPr>
          <a:xfrm>
            <a:off x="702618" y="2962424"/>
            <a:ext cx="2152724" cy="292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50"/>
              <a:buFont typeface="Inter Tight"/>
              <a:buNone/>
            </a:pPr>
            <a:r>
              <a:rPr b="1" i="0" lang="en-US" sz="10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$210k за 10%</a:t>
            </a:r>
            <a:r>
              <a:rPr b="0" i="0" lang="en-US" sz="10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 — pre-seed, прямые инвестиции</a:t>
            </a:r>
            <a:endParaRPr b="0" i="0" sz="1050" u="none" cap="none" strike="noStrike"/>
          </a:p>
        </p:txBody>
      </p:sp>
      <p:sp>
        <p:nvSpPr>
          <p:cNvPr id="62" name="Google Shape;62;p13"/>
          <p:cNvSpPr/>
          <p:nvPr/>
        </p:nvSpPr>
        <p:spPr>
          <a:xfrm>
            <a:off x="550664" y="3503191"/>
            <a:ext cx="2456631" cy="883965"/>
          </a:xfrm>
          <a:prstGeom prst="roundRect">
            <a:avLst>
              <a:gd fmla="val 23364" name="adj"/>
            </a:avLst>
          </a:prstGeom>
          <a:solidFill>
            <a:srgbClr val="0A081B"/>
          </a:solidFill>
          <a:ln cap="flat" cmpd="sng" w="14275">
            <a:solidFill>
              <a:srgbClr val="29D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3"/>
          <p:cNvSpPr/>
          <p:nvPr/>
        </p:nvSpPr>
        <p:spPr>
          <a:xfrm>
            <a:off x="702618" y="3655144"/>
            <a:ext cx="1529804" cy="1912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Live Demo</a:t>
            </a:r>
            <a:endParaRPr b="0" i="0" sz="1200" u="none" cap="none" strike="noStrike"/>
          </a:p>
        </p:txBody>
      </p:sp>
      <p:sp>
        <p:nvSpPr>
          <p:cNvPr id="64" name="Google Shape;64;p13"/>
          <p:cNvSpPr/>
          <p:nvPr/>
        </p:nvSpPr>
        <p:spPr>
          <a:xfrm>
            <a:off x="702618" y="3942755"/>
            <a:ext cx="2152724" cy="292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50"/>
              <a:buFont typeface="Inter Tight"/>
              <a:buNone/>
            </a:pPr>
            <a:r>
              <a:rPr b="1" i="0" lang="en-US" sz="10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finvy-ai.vercel.app</a:t>
            </a:r>
            <a:r>
              <a:rPr b="0" i="0" lang="en-US" sz="10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 — демо продукта уже работает</a:t>
            </a:r>
            <a:endParaRPr b="0" i="0" sz="1050" u="none" cap="none" strike="noStrike"/>
          </a:p>
        </p:txBody>
      </p:sp>
      <p:sp>
        <p:nvSpPr>
          <p:cNvPr id="65" name="Google Shape;65;p13"/>
          <p:cNvSpPr/>
          <p:nvPr/>
        </p:nvSpPr>
        <p:spPr>
          <a:xfrm>
            <a:off x="3347963" y="2501131"/>
            <a:ext cx="2456631" cy="146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50"/>
              <a:buFont typeface="Inter Tight"/>
              <a:buNone/>
            </a:pPr>
            <a:r>
              <a:rPr b="1" i="0" lang="en-US" sz="10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Сканируйте для live-демо:</a:t>
            </a:r>
            <a:endParaRPr b="0" i="0" sz="1050" u="none" cap="none" strike="noStrike"/>
          </a:p>
        </p:txBody>
      </p:sp>
      <p:pic>
        <p:nvPicPr>
          <p:cNvPr descr="preencoded.png" id="66" name="Google Shape;6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61631" y="2755776"/>
            <a:ext cx="1629296" cy="1629296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3"/>
          <p:cNvSpPr/>
          <p:nvPr/>
        </p:nvSpPr>
        <p:spPr>
          <a:xfrm>
            <a:off x="6300118" y="2522860"/>
            <a:ext cx="19050" cy="1817340"/>
          </a:xfrm>
          <a:prstGeom prst="roundRect">
            <a:avLst>
              <a:gd fmla="val 1084131" name="adj"/>
            </a:avLst>
          </a:prstGeom>
          <a:solidFill>
            <a:srgbClr val="FFFFFF">
              <a:alpha val="2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3"/>
          <p:cNvSpPr/>
          <p:nvPr/>
        </p:nvSpPr>
        <p:spPr>
          <a:xfrm>
            <a:off x="6435961" y="2668191"/>
            <a:ext cx="412998" cy="19050"/>
          </a:xfrm>
          <a:prstGeom prst="roundRect">
            <a:avLst>
              <a:gd fmla="val 1084131" name="adj"/>
            </a:avLst>
          </a:prstGeom>
          <a:solidFill>
            <a:srgbClr val="16FF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3"/>
          <p:cNvSpPr/>
          <p:nvPr/>
        </p:nvSpPr>
        <p:spPr>
          <a:xfrm>
            <a:off x="6145225" y="2522860"/>
            <a:ext cx="309786" cy="309786"/>
          </a:xfrm>
          <a:prstGeom prst="roundRect">
            <a:avLst>
              <a:gd fmla="val 66668" name="adj"/>
            </a:avLst>
          </a:prstGeom>
          <a:solidFill>
            <a:srgbClr val="0A081B"/>
          </a:solidFill>
          <a:ln cap="flat" cmpd="sng" w="14275">
            <a:solidFill>
              <a:srgbClr val="16FF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3"/>
          <p:cNvSpPr/>
          <p:nvPr/>
        </p:nvSpPr>
        <p:spPr>
          <a:xfrm>
            <a:off x="6208328" y="2563006"/>
            <a:ext cx="183505" cy="2294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400" u="none" cap="none" strike="noStrike"/>
          </a:p>
        </p:txBody>
      </p:sp>
      <p:sp>
        <p:nvSpPr>
          <p:cNvPr id="71" name="Google Shape;71;p13"/>
          <p:cNvSpPr/>
          <p:nvPr/>
        </p:nvSpPr>
        <p:spPr>
          <a:xfrm>
            <a:off x="6988522" y="2570187"/>
            <a:ext cx="1614190" cy="764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B2B-first</a:t>
            </a:r>
            <a:endParaRPr b="0" i="0" sz="1200" u="none" cap="none" strike="noStrike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0"/>
              <a:buFont typeface="Inter"/>
              <a:buNone/>
            </a:pPr>
            <a:r>
              <a:rPr i="0" lang="en-US" sz="120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МСБ, сервисы, торговля, кафе, агентства</a:t>
            </a:r>
            <a:endParaRPr b="0" i="0" sz="1200" u="none" cap="none" strike="noStrike"/>
          </a:p>
        </p:txBody>
      </p:sp>
      <p:sp>
        <p:nvSpPr>
          <p:cNvPr id="72" name="Google Shape;72;p13"/>
          <p:cNvSpPr/>
          <p:nvPr/>
        </p:nvSpPr>
        <p:spPr>
          <a:xfrm>
            <a:off x="6435961" y="3673227"/>
            <a:ext cx="412998" cy="19050"/>
          </a:xfrm>
          <a:prstGeom prst="roundRect">
            <a:avLst>
              <a:gd fmla="val 1084131" name="adj"/>
            </a:avLst>
          </a:prstGeom>
          <a:solidFill>
            <a:srgbClr val="29DD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3"/>
          <p:cNvSpPr/>
          <p:nvPr/>
        </p:nvSpPr>
        <p:spPr>
          <a:xfrm>
            <a:off x="6145225" y="3527896"/>
            <a:ext cx="309786" cy="309786"/>
          </a:xfrm>
          <a:prstGeom prst="roundRect">
            <a:avLst>
              <a:gd fmla="val 66668" name="adj"/>
            </a:avLst>
          </a:prstGeom>
          <a:solidFill>
            <a:srgbClr val="0A081B"/>
          </a:solidFill>
          <a:ln cap="flat" cmpd="sng" w="14275">
            <a:solidFill>
              <a:srgbClr val="29D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3"/>
          <p:cNvSpPr/>
          <p:nvPr/>
        </p:nvSpPr>
        <p:spPr>
          <a:xfrm>
            <a:off x="6208328" y="3568043"/>
            <a:ext cx="183505" cy="2294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400" u="none" cap="none" strike="noStrike"/>
          </a:p>
        </p:txBody>
      </p:sp>
      <p:sp>
        <p:nvSpPr>
          <p:cNvPr id="75" name="Google Shape;75;p13"/>
          <p:cNvSpPr/>
          <p:nvPr/>
        </p:nvSpPr>
        <p:spPr>
          <a:xfrm>
            <a:off x="6988522" y="3575224"/>
            <a:ext cx="1614190" cy="764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CIS scale</a:t>
            </a:r>
            <a:endParaRPr b="0" i="0" sz="1200" u="none" cap="none" strike="noStrike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0"/>
              <a:buFont typeface="Inter"/>
              <a:buNone/>
            </a:pPr>
            <a:r>
              <a:rPr i="0" lang="en-US" sz="120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перенос модели на СНГ после proof-of-market</a:t>
            </a:r>
            <a:endParaRPr b="0" i="0" sz="120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/>
          <p:nvPr/>
        </p:nvSpPr>
        <p:spPr>
          <a:xfrm>
            <a:off x="550664" y="579537"/>
            <a:ext cx="8042672" cy="764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F0FCFF"/>
                </a:solidFill>
                <a:latin typeface="Inter"/>
                <a:ea typeface="Inter"/>
                <a:cs typeface="Inter"/>
                <a:sym typeface="Inter"/>
              </a:rPr>
              <a:t>МСБ теряет деньги, потому что финансы живут в разных местах</a:t>
            </a:r>
            <a:endParaRPr b="0" i="0" sz="2400" u="none" cap="none" strike="noStrike"/>
          </a:p>
        </p:txBody>
      </p:sp>
      <p:sp>
        <p:nvSpPr>
          <p:cNvPr id="82" name="Google Shape;82;p14"/>
          <p:cNvSpPr/>
          <p:nvPr/>
        </p:nvSpPr>
        <p:spPr>
          <a:xfrm>
            <a:off x="550664" y="1470460"/>
            <a:ext cx="8042700" cy="6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1400"/>
              <a:buFont typeface="Inter"/>
              <a:buNone/>
            </a:pPr>
            <a:r>
              <a:rPr i="0" lang="en-US" sz="1400" u="none" cap="none" strike="noStrike">
                <a:solidFill>
                  <a:srgbClr val="F0FCFF"/>
                </a:solidFill>
                <a:latin typeface="Inter"/>
                <a:ea typeface="Inter"/>
                <a:cs typeface="Inter"/>
                <a:sym typeface="Inter"/>
              </a:rPr>
              <a:t>Владелец видит выписки, таблицы и налоги отдельно — решения запаздывают, штрафы накапливаются, а маржа становится видна лишь задним числом. Это системная боль для 2,3 млн+ субъектов МСБ в Казахстане.</a:t>
            </a:r>
            <a:endParaRPr b="0" i="0" sz="1400" u="none" cap="none" strike="noStrike"/>
          </a:p>
        </p:txBody>
      </p:sp>
      <p:sp>
        <p:nvSpPr>
          <p:cNvPr id="83" name="Google Shape;83;p14"/>
          <p:cNvSpPr/>
          <p:nvPr/>
        </p:nvSpPr>
        <p:spPr>
          <a:xfrm>
            <a:off x="940743" y="2284661"/>
            <a:ext cx="1820391" cy="364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850"/>
              <a:buFont typeface="Inter"/>
              <a:buNone/>
            </a:pPr>
            <a:r>
              <a:rPr b="1" i="0" lang="en-US" sz="285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2.3М+</a:t>
            </a:r>
            <a:endParaRPr b="0" i="0" sz="2850" u="none" cap="none" strike="noStrike"/>
          </a:p>
        </p:txBody>
      </p:sp>
      <p:sp>
        <p:nvSpPr>
          <p:cNvPr id="84" name="Google Shape;84;p14"/>
          <p:cNvSpPr/>
          <p:nvPr/>
        </p:nvSpPr>
        <p:spPr>
          <a:xfrm>
            <a:off x="1050950" y="2790602"/>
            <a:ext cx="1599977" cy="1912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Субъектов МСБ в РК</a:t>
            </a:r>
            <a:endParaRPr b="0" i="0" sz="1200" u="none" cap="none" strike="noStrike"/>
          </a:p>
        </p:txBody>
      </p:sp>
      <p:sp>
        <p:nvSpPr>
          <p:cNvPr id="85" name="Google Shape;85;p14"/>
          <p:cNvSpPr/>
          <p:nvPr/>
        </p:nvSpPr>
        <p:spPr>
          <a:xfrm>
            <a:off x="3661767" y="2284661"/>
            <a:ext cx="1820391" cy="364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850"/>
              <a:buFont typeface="Inter"/>
              <a:buNone/>
            </a:pPr>
            <a:r>
              <a:rPr b="1" i="0" lang="en-US" sz="285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~70%</a:t>
            </a:r>
            <a:endParaRPr b="0" i="0" sz="2850" u="none" cap="none" strike="noStrike"/>
          </a:p>
        </p:txBody>
      </p:sp>
      <p:sp>
        <p:nvSpPr>
          <p:cNvPr id="86" name="Google Shape;86;p14"/>
          <p:cNvSpPr/>
          <p:nvPr/>
        </p:nvSpPr>
        <p:spPr>
          <a:xfrm>
            <a:off x="3787080" y="2790602"/>
            <a:ext cx="1569839" cy="1912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Ведут учёт вручную</a:t>
            </a:r>
            <a:endParaRPr b="0" i="0" sz="1200" u="none" cap="none" strike="noStrike"/>
          </a:p>
        </p:txBody>
      </p:sp>
      <p:sp>
        <p:nvSpPr>
          <p:cNvPr id="87" name="Google Shape;87;p14"/>
          <p:cNvSpPr/>
          <p:nvPr/>
        </p:nvSpPr>
        <p:spPr>
          <a:xfrm>
            <a:off x="3271689" y="3039666"/>
            <a:ext cx="2600623" cy="146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SzPts val="1050"/>
              <a:buFont typeface="Arial"/>
              <a:buNone/>
            </a:pPr>
            <a:r>
              <a:t/>
            </a:r>
            <a:endParaRPr b="0" i="0" sz="1050" u="none" cap="none" strike="noStrike"/>
          </a:p>
        </p:txBody>
      </p:sp>
      <p:sp>
        <p:nvSpPr>
          <p:cNvPr id="88" name="Google Shape;88;p14"/>
          <p:cNvSpPr/>
          <p:nvPr/>
        </p:nvSpPr>
        <p:spPr>
          <a:xfrm>
            <a:off x="6382792" y="2284661"/>
            <a:ext cx="1820391" cy="364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850"/>
              <a:buFont typeface="Inter"/>
              <a:buNone/>
            </a:pPr>
            <a:r>
              <a:rPr b="1" i="0" lang="en-US" sz="285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62 000+</a:t>
            </a:r>
            <a:endParaRPr b="0" i="0" sz="2850" u="none" cap="none" strike="noStrike"/>
          </a:p>
        </p:txBody>
      </p:sp>
      <p:sp>
        <p:nvSpPr>
          <p:cNvPr id="89" name="Google Shape;89;p14"/>
          <p:cNvSpPr/>
          <p:nvPr/>
        </p:nvSpPr>
        <p:spPr>
          <a:xfrm>
            <a:off x="6528122" y="2790602"/>
            <a:ext cx="1529804" cy="1912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Готовая аудитория</a:t>
            </a:r>
            <a:endParaRPr b="0" i="0" sz="1200" u="none" cap="none" strike="noStrike"/>
          </a:p>
        </p:txBody>
      </p:sp>
      <p:sp>
        <p:nvSpPr>
          <p:cNvPr id="90" name="Google Shape;90;p14"/>
          <p:cNvSpPr/>
          <p:nvPr/>
        </p:nvSpPr>
        <p:spPr>
          <a:xfrm>
            <a:off x="5992713" y="3039666"/>
            <a:ext cx="2600623" cy="146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SzPts val="1050"/>
              <a:buFont typeface="Arial"/>
              <a:buNone/>
            </a:pPr>
            <a:r>
              <a:t/>
            </a:r>
            <a:endParaRPr b="0" i="0" sz="1050" u="none" cap="none" strike="noStrike"/>
          </a:p>
        </p:txBody>
      </p:sp>
      <p:sp>
        <p:nvSpPr>
          <p:cNvPr id="91" name="Google Shape;91;p14"/>
          <p:cNvSpPr/>
          <p:nvPr/>
        </p:nvSpPr>
        <p:spPr>
          <a:xfrm>
            <a:off x="550664" y="3294311"/>
            <a:ext cx="1938338" cy="1269653"/>
          </a:xfrm>
          <a:prstGeom prst="roundRect">
            <a:avLst>
              <a:gd fmla="val 16266" name="adj"/>
            </a:avLst>
          </a:prstGeom>
          <a:solidFill>
            <a:srgbClr val="0A081B">
              <a:alpha val="74901"/>
            </a:srgbClr>
          </a:solidFill>
          <a:ln cap="flat" cmpd="sng" w="19050">
            <a:solidFill>
              <a:srgbClr val="16FF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4"/>
          <p:cNvSpPr/>
          <p:nvPr/>
        </p:nvSpPr>
        <p:spPr>
          <a:xfrm>
            <a:off x="707380" y="3451027"/>
            <a:ext cx="1624905" cy="764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Банки — данные разрознены по разным приложениям</a:t>
            </a:r>
            <a:endParaRPr b="0" i="0" sz="1200" u="none" cap="none" strike="noStrike"/>
          </a:p>
        </p:txBody>
      </p:sp>
      <p:sp>
        <p:nvSpPr>
          <p:cNvPr id="93" name="Google Shape;93;p14"/>
          <p:cNvSpPr/>
          <p:nvPr/>
        </p:nvSpPr>
        <p:spPr>
          <a:xfrm>
            <a:off x="2585368" y="3294311"/>
            <a:ext cx="1938412" cy="1269653"/>
          </a:xfrm>
          <a:prstGeom prst="roundRect">
            <a:avLst>
              <a:gd fmla="val 16266" name="adj"/>
            </a:avLst>
          </a:prstGeom>
          <a:solidFill>
            <a:srgbClr val="0A081B">
              <a:alpha val="74901"/>
            </a:srgbClr>
          </a:solidFill>
          <a:ln cap="flat" cmpd="sng" w="19050">
            <a:solidFill>
              <a:srgbClr val="29D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2742084" y="3451027"/>
            <a:ext cx="1624980" cy="382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Налоги — штрафы и переплаты</a:t>
            </a:r>
            <a:endParaRPr b="0" i="0" sz="1200" u="none" cap="none" strike="noStrike"/>
          </a:p>
        </p:txBody>
      </p:sp>
      <p:sp>
        <p:nvSpPr>
          <p:cNvPr id="95" name="Google Shape;95;p14"/>
          <p:cNvSpPr/>
          <p:nvPr/>
        </p:nvSpPr>
        <p:spPr>
          <a:xfrm>
            <a:off x="4620146" y="3294311"/>
            <a:ext cx="1938412" cy="1269653"/>
          </a:xfrm>
          <a:prstGeom prst="roundRect">
            <a:avLst>
              <a:gd fmla="val 16266" name="adj"/>
            </a:avLst>
          </a:prstGeom>
          <a:solidFill>
            <a:srgbClr val="0A081B">
              <a:alpha val="74901"/>
            </a:srgbClr>
          </a:solidFill>
          <a:ln cap="flat" cmpd="sng" w="19050">
            <a:solidFill>
              <a:srgbClr val="37A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4776862" y="3451027"/>
            <a:ext cx="1624980" cy="382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P&amp;L — маржа видна поздно</a:t>
            </a:r>
            <a:endParaRPr b="0" i="0" sz="1200" u="none" cap="none" strike="noStrike"/>
          </a:p>
        </p:txBody>
      </p:sp>
      <p:sp>
        <p:nvSpPr>
          <p:cNvPr id="97" name="Google Shape;97;p14"/>
          <p:cNvSpPr/>
          <p:nvPr/>
        </p:nvSpPr>
        <p:spPr>
          <a:xfrm>
            <a:off x="6654924" y="3294311"/>
            <a:ext cx="1938412" cy="1269653"/>
          </a:xfrm>
          <a:prstGeom prst="roundRect">
            <a:avLst>
              <a:gd fmla="val 16266" name="adj"/>
            </a:avLst>
          </a:prstGeom>
          <a:solidFill>
            <a:srgbClr val="0A081B">
              <a:alpha val="74901"/>
            </a:srgbClr>
          </a:solidFill>
          <a:ln cap="flat" cmpd="sng" w="19050">
            <a:solidFill>
              <a:srgbClr val="B05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6811650" y="3451025"/>
            <a:ext cx="1716900" cy="9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AI —  не может давать </a:t>
            </a:r>
            <a:r>
              <a:rPr b="1" i="0" lang="en-US" sz="120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контекстные </a:t>
            </a:r>
            <a:r>
              <a:rPr b="1" i="0" lang="en-US" sz="120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рекомендации без интеграции с </a:t>
            </a:r>
            <a:r>
              <a:rPr b="1" i="0" lang="en-US" sz="120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данными</a:t>
            </a:r>
            <a:endParaRPr b="0" i="0" sz="120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/>
          <p:nvPr/>
        </p:nvSpPr>
        <p:spPr>
          <a:xfrm>
            <a:off x="550664" y="579983"/>
            <a:ext cx="8042672" cy="764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F0FCFF"/>
                </a:solidFill>
                <a:latin typeface="Inter"/>
                <a:ea typeface="Inter"/>
                <a:cs typeface="Inter"/>
                <a:sym typeface="Inter"/>
              </a:rPr>
              <a:t>Единая панель управления вместо таблиц и разрозненных данных</a:t>
            </a:r>
            <a:endParaRPr b="0" i="0" sz="2400" u="none" cap="none" strike="noStrike"/>
          </a:p>
        </p:txBody>
      </p:sp>
      <p:sp>
        <p:nvSpPr>
          <p:cNvPr id="105" name="Google Shape;105;p15"/>
          <p:cNvSpPr/>
          <p:nvPr/>
        </p:nvSpPr>
        <p:spPr>
          <a:xfrm>
            <a:off x="550664" y="1481852"/>
            <a:ext cx="8042700" cy="6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1400"/>
              <a:buFont typeface="Inter"/>
              <a:buNone/>
            </a:pPr>
            <a:r>
              <a:rPr i="0" lang="en-US" sz="1400" u="none" cap="none" strike="noStrike">
                <a:solidFill>
                  <a:srgbClr val="F0FCFF"/>
                </a:solidFill>
                <a:latin typeface="Inter"/>
                <a:ea typeface="Inter"/>
                <a:cs typeface="Inter"/>
                <a:sym typeface="Inter"/>
              </a:rPr>
              <a:t>Finvy собирает операции, P&amp;L, налоги и AI-рекомендации в один ежедневный слой управления — так, чтобы владелец бизнеса в любой момент понимал, что происходит с деньгами и что делать дальше.</a:t>
            </a:r>
            <a:endParaRPr b="0" i="0" sz="1400" u="none" cap="none" strike="noStrike"/>
          </a:p>
        </p:txBody>
      </p:sp>
      <p:sp>
        <p:nvSpPr>
          <p:cNvPr id="106" name="Google Shape;106;p15"/>
          <p:cNvSpPr/>
          <p:nvPr/>
        </p:nvSpPr>
        <p:spPr>
          <a:xfrm>
            <a:off x="550664" y="2314620"/>
            <a:ext cx="3973200" cy="855000"/>
          </a:xfrm>
          <a:prstGeom prst="roundRect">
            <a:avLst>
              <a:gd fmla="val 10695" name="adj"/>
            </a:avLst>
          </a:prstGeom>
          <a:solidFill>
            <a:srgbClr val="0A081B">
              <a:alpha val="74901"/>
            </a:srgbClr>
          </a:solidFill>
          <a:ln cap="flat" cmpd="sng" w="19050">
            <a:solidFill>
              <a:srgbClr val="16FF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531614" y="2314620"/>
            <a:ext cx="76200" cy="855000"/>
          </a:xfrm>
          <a:prstGeom prst="roundRect">
            <a:avLst>
              <a:gd fmla="val 271033" name="adj"/>
            </a:avLst>
          </a:prstGeom>
          <a:solidFill>
            <a:srgbClr val="16FF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1201000" y="2498025"/>
            <a:ext cx="2565900" cy="1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Open API / AISP </a:t>
            </a:r>
            <a:r>
              <a:rPr b="1" lang="en-US" sz="1200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/ </a:t>
            </a:r>
            <a:r>
              <a:rPr b="1" lang="en-US" sz="1200">
                <a:solidFill>
                  <a:srgbClr val="FFFFFF"/>
                </a:solidFill>
                <a:highlight>
                  <a:srgbClr val="181818"/>
                </a:highlight>
              </a:rPr>
              <a:t>Blockchain API</a:t>
            </a:r>
            <a:r>
              <a:rPr b="1" lang="en-US" sz="1100">
                <a:solidFill>
                  <a:schemeClr val="dk1"/>
                </a:solidFill>
              </a:rPr>
              <a:t> </a:t>
            </a:r>
            <a:endParaRPr b="1" i="0" sz="1200" u="none" cap="none" strike="noStrike"/>
          </a:p>
        </p:txBody>
      </p:sp>
      <p:sp>
        <p:nvSpPr>
          <p:cNvPr id="109" name="Google Shape;109;p15"/>
          <p:cNvSpPr/>
          <p:nvPr/>
        </p:nvSpPr>
        <p:spPr>
          <a:xfrm>
            <a:off x="764530" y="2720400"/>
            <a:ext cx="36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50"/>
              <a:buFont typeface="Inter Tight"/>
              <a:buNone/>
            </a:pPr>
            <a:r>
              <a:rPr b="0" i="0" lang="en-US" sz="10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Легальный доступ к счетам и операциям через банковский Open API</a:t>
            </a:r>
            <a:r>
              <a:rPr lang="en-US" sz="1050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, подключение крипто кошельков</a:t>
            </a:r>
            <a:r>
              <a:rPr b="0" i="0" lang="en-US" sz="10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  </a:t>
            </a:r>
            <a:endParaRPr b="0" i="0" sz="1050" u="none" cap="none" strike="noStrike"/>
          </a:p>
        </p:txBody>
      </p:sp>
      <p:sp>
        <p:nvSpPr>
          <p:cNvPr id="110" name="Google Shape;110;p15"/>
          <p:cNvSpPr/>
          <p:nvPr/>
        </p:nvSpPr>
        <p:spPr>
          <a:xfrm>
            <a:off x="4620146" y="2314620"/>
            <a:ext cx="3973200" cy="855000"/>
          </a:xfrm>
          <a:prstGeom prst="roundRect">
            <a:avLst>
              <a:gd fmla="val 10695" name="adj"/>
            </a:avLst>
          </a:prstGeom>
          <a:solidFill>
            <a:srgbClr val="0A081B">
              <a:alpha val="74901"/>
            </a:srgbClr>
          </a:solidFill>
          <a:ln cap="flat" cmpd="sng" w="19050">
            <a:solidFill>
              <a:srgbClr val="29D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4601096" y="2314620"/>
            <a:ext cx="76200" cy="855000"/>
          </a:xfrm>
          <a:prstGeom prst="roundRect">
            <a:avLst>
              <a:gd fmla="val 271033" name="adj"/>
            </a:avLst>
          </a:prstGeom>
          <a:solidFill>
            <a:srgbClr val="29DD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5870377" y="2471336"/>
            <a:ext cx="15297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P&amp;L + Cash Flow</a:t>
            </a:r>
            <a:endParaRPr b="0" i="0" sz="1200" u="none" cap="none" strike="noStrike"/>
          </a:p>
        </p:txBody>
      </p:sp>
      <p:sp>
        <p:nvSpPr>
          <p:cNvPr id="113" name="Google Shape;113;p15"/>
          <p:cNvSpPr/>
          <p:nvPr/>
        </p:nvSpPr>
        <p:spPr>
          <a:xfrm>
            <a:off x="4834012" y="2720400"/>
            <a:ext cx="3602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50"/>
              <a:buFont typeface="Inter Tight"/>
              <a:buNone/>
            </a:pPr>
            <a:r>
              <a:rPr b="0" i="0" lang="en-US" sz="10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Ежедневная управленческая картина: доходы, расходы, маржа и движение денег — без ручного ввода.</a:t>
            </a:r>
            <a:endParaRPr b="0" i="0" sz="1050" u="none" cap="none" strike="noStrike"/>
          </a:p>
        </p:txBody>
      </p:sp>
      <p:sp>
        <p:nvSpPr>
          <p:cNvPr id="114" name="Google Shape;114;p15"/>
          <p:cNvSpPr/>
          <p:nvPr/>
        </p:nvSpPr>
        <p:spPr>
          <a:xfrm>
            <a:off x="550664" y="3265929"/>
            <a:ext cx="3973200" cy="855000"/>
          </a:xfrm>
          <a:prstGeom prst="roundRect">
            <a:avLst>
              <a:gd fmla="val 10695" name="adj"/>
            </a:avLst>
          </a:prstGeom>
          <a:solidFill>
            <a:srgbClr val="0A081B">
              <a:alpha val="74901"/>
            </a:srgbClr>
          </a:solidFill>
          <a:ln cap="flat" cmpd="sng" w="19050">
            <a:solidFill>
              <a:srgbClr val="37A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531614" y="3265929"/>
            <a:ext cx="76200" cy="855000"/>
          </a:xfrm>
          <a:prstGeom prst="roundRect">
            <a:avLst>
              <a:gd fmla="val 271033" name="adj"/>
            </a:avLst>
          </a:prstGeom>
          <a:solidFill>
            <a:srgbClr val="37A7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1461939" y="3422645"/>
            <a:ext cx="22077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AI с маскированием данных</a:t>
            </a:r>
            <a:endParaRPr b="0" i="0" sz="1200" u="none" cap="none" strike="noStrike"/>
          </a:p>
        </p:txBody>
      </p:sp>
      <p:sp>
        <p:nvSpPr>
          <p:cNvPr id="117" name="Google Shape;117;p15"/>
          <p:cNvSpPr/>
          <p:nvPr/>
        </p:nvSpPr>
        <p:spPr>
          <a:xfrm>
            <a:off x="764530" y="3671709"/>
            <a:ext cx="360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50"/>
              <a:buFont typeface="Inter Tight"/>
              <a:buNone/>
            </a:pPr>
            <a:r>
              <a:rPr b="0" i="0" lang="en-US" sz="10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Персонализированные рекомендации без передачи персональных данных в LLM. </a:t>
            </a:r>
            <a:endParaRPr b="0" i="0" sz="1050" u="none" cap="none" strike="noStrike"/>
          </a:p>
        </p:txBody>
      </p:sp>
      <p:sp>
        <p:nvSpPr>
          <p:cNvPr id="118" name="Google Shape;118;p15"/>
          <p:cNvSpPr/>
          <p:nvPr/>
        </p:nvSpPr>
        <p:spPr>
          <a:xfrm>
            <a:off x="4620146" y="3265929"/>
            <a:ext cx="3973200" cy="855000"/>
          </a:xfrm>
          <a:prstGeom prst="roundRect">
            <a:avLst>
              <a:gd fmla="val 10695" name="adj"/>
            </a:avLst>
          </a:prstGeom>
          <a:solidFill>
            <a:srgbClr val="0A081B">
              <a:alpha val="74901"/>
            </a:srgbClr>
          </a:solidFill>
          <a:ln cap="flat" cmpd="sng" w="19050">
            <a:solidFill>
              <a:srgbClr val="B05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4601096" y="3265929"/>
            <a:ext cx="76200" cy="855000"/>
          </a:xfrm>
          <a:prstGeom prst="roundRect">
            <a:avLst>
              <a:gd fmla="val 271033" name="adj"/>
            </a:avLst>
          </a:prstGeom>
          <a:solidFill>
            <a:srgbClr val="B05E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5870377" y="3422645"/>
            <a:ext cx="15297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Налоги и отчёты</a:t>
            </a:r>
            <a:endParaRPr b="0" i="0" sz="1200" u="none" cap="none" strike="noStrike"/>
          </a:p>
        </p:txBody>
      </p:sp>
      <p:sp>
        <p:nvSpPr>
          <p:cNvPr id="121" name="Google Shape;121;p15"/>
          <p:cNvSpPr/>
          <p:nvPr/>
        </p:nvSpPr>
        <p:spPr>
          <a:xfrm>
            <a:off x="4834012" y="3671709"/>
            <a:ext cx="3602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50"/>
              <a:buFont typeface="Inter Tight"/>
              <a:buNone/>
            </a:pPr>
            <a:r>
              <a:rPr b="0" i="0" lang="en-US" sz="10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Автоматические напоминания о сроках сдачи формирование отчётов по нажатию кнопки.</a:t>
            </a:r>
            <a:endParaRPr b="0" i="0" sz="1050" u="none" cap="none" strike="noStrike"/>
          </a:p>
        </p:txBody>
      </p:sp>
      <p:sp>
        <p:nvSpPr>
          <p:cNvPr id="122" name="Google Shape;122;p15"/>
          <p:cNvSpPr/>
          <p:nvPr/>
        </p:nvSpPr>
        <p:spPr>
          <a:xfrm>
            <a:off x="550664" y="4229294"/>
            <a:ext cx="8042700" cy="432600"/>
          </a:xfrm>
          <a:prstGeom prst="roundRect">
            <a:avLst>
              <a:gd fmla="val 47752" name="adj"/>
            </a:avLst>
          </a:prstGeom>
          <a:solidFill>
            <a:srgbClr val="183A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3" name="Google Shape;12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8330" y="4401339"/>
            <a:ext cx="172045" cy="13766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/>
          <p:nvPr/>
        </p:nvSpPr>
        <p:spPr>
          <a:xfrm>
            <a:off x="998041" y="4360039"/>
            <a:ext cx="74577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Inter Tight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 Цель: полноценный AISP-контур в периметре РК и СНГ.</a:t>
            </a:r>
            <a:endParaRPr b="0" i="0" sz="10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3974" y="344600"/>
            <a:ext cx="4404651" cy="192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/>
          <p:nvPr/>
        </p:nvSpPr>
        <p:spPr>
          <a:xfrm>
            <a:off x="550601" y="344590"/>
            <a:ext cx="8042700" cy="7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2400"/>
              <a:buFont typeface="Inter"/>
              <a:buNone/>
            </a:pPr>
            <a:r>
              <a:rPr b="1" lang="en-US" sz="2400">
                <a:solidFill>
                  <a:srgbClr val="F0FCFF"/>
                </a:solidFill>
                <a:latin typeface="Inter"/>
                <a:ea typeface="Inter"/>
                <a:cs typeface="Inter"/>
                <a:sym typeface="Inter"/>
              </a:rPr>
              <a:t>От</a:t>
            </a:r>
            <a:r>
              <a:rPr b="1" i="0" lang="en-US" sz="2400" u="none" cap="none" strike="noStrike">
                <a:solidFill>
                  <a:srgbClr val="F0FCFF"/>
                </a:solidFill>
                <a:latin typeface="Inter"/>
                <a:ea typeface="Inter"/>
                <a:cs typeface="Inter"/>
                <a:sym typeface="Inter"/>
              </a:rPr>
              <a:t> подключения данных</a:t>
            </a:r>
            <a:endParaRPr b="1" i="0" sz="2400" u="none" cap="none" strike="noStrike">
              <a:solidFill>
                <a:srgbClr val="F0FC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F0FCFF"/>
                </a:solidFill>
                <a:latin typeface="Inter"/>
                <a:ea typeface="Inter"/>
                <a:cs typeface="Inter"/>
                <a:sym typeface="Inter"/>
              </a:rPr>
              <a:t>до управлен</a:t>
            </a:r>
            <a:r>
              <a:rPr b="1" lang="en-US" sz="2400">
                <a:solidFill>
                  <a:srgbClr val="F0FCFF"/>
                </a:solidFill>
                <a:latin typeface="Inter"/>
                <a:ea typeface="Inter"/>
                <a:cs typeface="Inter"/>
                <a:sym typeface="Inter"/>
              </a:rPr>
              <a:t>ия</a:t>
            </a:r>
            <a:endParaRPr b="1" sz="2400">
              <a:solidFill>
                <a:srgbClr val="F0FC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2400"/>
              <a:buFont typeface="Inter"/>
              <a:buNone/>
            </a:pPr>
            <a:r>
              <a:rPr b="1" lang="en-US" sz="2400">
                <a:solidFill>
                  <a:srgbClr val="F0FCFF"/>
                </a:solidFill>
                <a:latin typeface="Inter"/>
                <a:ea typeface="Inter"/>
                <a:cs typeface="Inter"/>
                <a:sym typeface="Inter"/>
              </a:rPr>
              <a:t>финансами</a:t>
            </a:r>
            <a:endParaRPr b="1" sz="2400">
              <a:solidFill>
                <a:srgbClr val="F0FC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550650" y="1811851"/>
            <a:ext cx="80427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703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350"/>
              <a:buFont typeface="Inter Tight"/>
              <a:buNone/>
            </a:pPr>
            <a:r>
              <a:rPr b="0" i="0" lang="en-US" sz="13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Продукт закрывает сбор данных, </a:t>
            </a:r>
            <a:endParaRPr b="0" i="0" sz="1350" u="none" cap="none" strike="noStrike">
              <a:solidFill>
                <a:srgbClr val="E0E4E6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marR="0" rtl="0" algn="l">
              <a:lnSpc>
                <a:spcPct val="103703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350"/>
              <a:buFont typeface="Inter Tight"/>
              <a:buNone/>
            </a:pPr>
            <a:r>
              <a:rPr b="0" i="0" lang="en-US" sz="13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безопасность, аналитику, AI и отчеты.</a:t>
            </a:r>
            <a:endParaRPr b="0" i="0" sz="1350" u="none" cap="none" strike="noStrike"/>
          </a:p>
        </p:txBody>
      </p:sp>
      <p:sp>
        <p:nvSpPr>
          <p:cNvPr id="133" name="Google Shape;133;p16"/>
          <p:cNvSpPr/>
          <p:nvPr/>
        </p:nvSpPr>
        <p:spPr>
          <a:xfrm>
            <a:off x="610464" y="1727298"/>
            <a:ext cx="38535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SzPts val="1050"/>
              <a:buFont typeface="Arial"/>
              <a:buNone/>
            </a:pPr>
            <a:r>
              <a:t/>
            </a:r>
            <a:endParaRPr b="0" i="0" sz="1050" u="none" cap="none" strike="noStrike"/>
          </a:p>
        </p:txBody>
      </p:sp>
      <p:sp>
        <p:nvSpPr>
          <p:cNvPr id="134" name="Google Shape;134;p16"/>
          <p:cNvSpPr/>
          <p:nvPr/>
        </p:nvSpPr>
        <p:spPr>
          <a:xfrm>
            <a:off x="4744715" y="2029048"/>
            <a:ext cx="38535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SzPts val="1050"/>
              <a:buFont typeface="Arial"/>
              <a:buNone/>
            </a:pPr>
            <a:r>
              <a:t/>
            </a:r>
            <a:endParaRPr b="0" i="0" sz="1050" u="none" cap="none" strike="noStrike"/>
          </a:p>
        </p:txBody>
      </p:sp>
      <p:sp>
        <p:nvSpPr>
          <p:cNvPr id="135" name="Google Shape;135;p16"/>
          <p:cNvSpPr/>
          <p:nvPr/>
        </p:nvSpPr>
        <p:spPr>
          <a:xfrm>
            <a:off x="550664" y="2370386"/>
            <a:ext cx="2616622" cy="1137865"/>
          </a:xfrm>
          <a:prstGeom prst="roundRect">
            <a:avLst>
              <a:gd fmla="val 29041" name="adj"/>
            </a:avLst>
          </a:prstGeom>
          <a:solidFill>
            <a:srgbClr val="0A081B"/>
          </a:solidFill>
          <a:ln cap="flat" cmpd="sng" w="14275">
            <a:solidFill>
              <a:srgbClr val="16FF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1094036" y="2522339"/>
            <a:ext cx="1529804" cy="1912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Подключение</a:t>
            </a:r>
            <a:endParaRPr b="0" i="0" sz="1200" u="none" cap="none" strike="noStrike"/>
          </a:p>
        </p:txBody>
      </p:sp>
      <p:sp>
        <p:nvSpPr>
          <p:cNvPr id="137" name="Google Shape;137;p16"/>
          <p:cNvSpPr/>
          <p:nvPr/>
        </p:nvSpPr>
        <p:spPr>
          <a:xfrm>
            <a:off x="702618" y="2771403"/>
            <a:ext cx="2312715" cy="292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50"/>
              <a:buFont typeface="Inter Tight"/>
              <a:buNone/>
            </a:pPr>
            <a:r>
              <a:rPr b="0" i="0" lang="en-US" sz="10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Банки (Kaspi, Halyk), </a:t>
            </a:r>
            <a:r>
              <a:rPr lang="en-US" sz="1050">
                <a:solidFill>
                  <a:srgbClr val="F0FCFF"/>
                </a:solidFill>
                <a:highlight>
                  <a:srgbClr val="181818"/>
                </a:highlight>
                <a:latin typeface="Inter Tight"/>
                <a:ea typeface="Inter Tight"/>
                <a:cs typeface="Inter Tight"/>
                <a:sym typeface="Inter Tight"/>
              </a:rPr>
              <a:t>криптосчёт </a:t>
            </a:r>
            <a:r>
              <a:rPr b="0" i="0" lang="en-US" sz="10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, PDF-выписки, касса и Telegram</a:t>
            </a:r>
            <a:endParaRPr b="0" i="0" sz="1050" u="none" cap="none" strike="noStrike"/>
          </a:p>
        </p:txBody>
      </p:sp>
      <p:sp>
        <p:nvSpPr>
          <p:cNvPr id="138" name="Google Shape;138;p16"/>
          <p:cNvSpPr/>
          <p:nvPr/>
        </p:nvSpPr>
        <p:spPr>
          <a:xfrm>
            <a:off x="3263652" y="2370386"/>
            <a:ext cx="2616622" cy="1137865"/>
          </a:xfrm>
          <a:prstGeom prst="roundRect">
            <a:avLst>
              <a:gd fmla="val 29041" name="adj"/>
            </a:avLst>
          </a:prstGeom>
          <a:solidFill>
            <a:srgbClr val="0A081B"/>
          </a:solidFill>
          <a:ln cap="flat" cmpd="sng" w="14275">
            <a:solidFill>
              <a:srgbClr val="29D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3807023" y="2522339"/>
            <a:ext cx="1529804" cy="1912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Нормализация</a:t>
            </a:r>
            <a:endParaRPr b="0" i="0" sz="1200" u="none" cap="none" strike="noStrike"/>
          </a:p>
        </p:txBody>
      </p:sp>
      <p:sp>
        <p:nvSpPr>
          <p:cNvPr id="140" name="Google Shape;140;p16"/>
          <p:cNvSpPr/>
          <p:nvPr/>
        </p:nvSpPr>
        <p:spPr>
          <a:xfrm>
            <a:off x="3415605" y="2771403"/>
            <a:ext cx="2312715" cy="584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50"/>
              <a:buFont typeface="Inter Tight"/>
              <a:buNone/>
            </a:pPr>
            <a:r>
              <a:rPr b="0" i="0" lang="en-US" sz="10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Классификация категорий, контрагентов, налоговых обязательств и зарплатных операций</a:t>
            </a:r>
            <a:endParaRPr b="0" i="0" sz="1050" u="none" cap="none" strike="noStrike"/>
          </a:p>
        </p:txBody>
      </p:sp>
      <p:sp>
        <p:nvSpPr>
          <p:cNvPr id="141" name="Google Shape;141;p16"/>
          <p:cNvSpPr/>
          <p:nvPr/>
        </p:nvSpPr>
        <p:spPr>
          <a:xfrm>
            <a:off x="5976640" y="2370386"/>
            <a:ext cx="2616622" cy="1137865"/>
          </a:xfrm>
          <a:prstGeom prst="roundRect">
            <a:avLst>
              <a:gd fmla="val 29041" name="adj"/>
            </a:avLst>
          </a:prstGeom>
          <a:solidFill>
            <a:srgbClr val="0A081B"/>
          </a:solidFill>
          <a:ln cap="flat" cmpd="sng" w="14275">
            <a:solidFill>
              <a:srgbClr val="37A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6520011" y="2522339"/>
            <a:ext cx="1529804" cy="1912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Безопасность</a:t>
            </a:r>
            <a:endParaRPr b="0" i="0" sz="1200" u="none" cap="none" strike="noStrike"/>
          </a:p>
        </p:txBody>
      </p:sp>
      <p:sp>
        <p:nvSpPr>
          <p:cNvPr id="143" name="Google Shape;143;p16"/>
          <p:cNvSpPr/>
          <p:nvPr/>
        </p:nvSpPr>
        <p:spPr>
          <a:xfrm>
            <a:off x="6128593" y="2771403"/>
            <a:ext cx="2312715" cy="4386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50"/>
              <a:buFont typeface="Inter Tight"/>
              <a:buNone/>
            </a:pPr>
            <a:r>
              <a:rPr b="0" i="0" lang="en-US" sz="10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VPC в периметре РК, KMS для шифрования ключей, Keycloak для авторизации, аудит ИБ</a:t>
            </a:r>
            <a:endParaRPr b="0" i="0" sz="1050" u="none" cap="none" strike="noStrike"/>
          </a:p>
        </p:txBody>
      </p:sp>
      <p:sp>
        <p:nvSpPr>
          <p:cNvPr id="144" name="Google Shape;144;p16"/>
          <p:cNvSpPr/>
          <p:nvPr/>
        </p:nvSpPr>
        <p:spPr>
          <a:xfrm>
            <a:off x="550664" y="3604617"/>
            <a:ext cx="3973116" cy="845418"/>
          </a:xfrm>
          <a:prstGeom prst="roundRect">
            <a:avLst>
              <a:gd fmla="val 39086" name="adj"/>
            </a:avLst>
          </a:prstGeom>
          <a:solidFill>
            <a:srgbClr val="0A081B"/>
          </a:solidFill>
          <a:ln cap="flat" cmpd="sng" w="14275">
            <a:solidFill>
              <a:srgbClr val="B05E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1772320" y="3756571"/>
            <a:ext cx="1529804" cy="1912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Управление</a:t>
            </a:r>
            <a:endParaRPr b="0" i="0" sz="1200" u="none" cap="none" strike="noStrike"/>
          </a:p>
        </p:txBody>
      </p:sp>
      <p:sp>
        <p:nvSpPr>
          <p:cNvPr id="146" name="Google Shape;146;p16"/>
          <p:cNvSpPr/>
          <p:nvPr/>
        </p:nvSpPr>
        <p:spPr>
          <a:xfrm>
            <a:off x="702618" y="4005635"/>
            <a:ext cx="3669209" cy="292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50"/>
              <a:buFont typeface="Inter Tight"/>
              <a:buNone/>
            </a:pPr>
            <a:r>
              <a:rPr b="0" i="0" lang="en-US" sz="10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P&amp;L, cash-flow, налоговый календарь и управленческие отчёты</a:t>
            </a:r>
            <a:endParaRPr b="0" i="0" sz="1050" u="none" cap="none" strike="noStrike"/>
          </a:p>
        </p:txBody>
      </p:sp>
      <p:sp>
        <p:nvSpPr>
          <p:cNvPr id="147" name="Google Shape;147;p16"/>
          <p:cNvSpPr/>
          <p:nvPr/>
        </p:nvSpPr>
        <p:spPr>
          <a:xfrm>
            <a:off x="4620146" y="3604617"/>
            <a:ext cx="3973116" cy="845418"/>
          </a:xfrm>
          <a:prstGeom prst="roundRect">
            <a:avLst>
              <a:gd fmla="val 39086" name="adj"/>
            </a:avLst>
          </a:prstGeom>
          <a:solidFill>
            <a:srgbClr val="0A081B"/>
          </a:solidFill>
          <a:ln cap="flat" cmpd="sng" w="14275">
            <a:solidFill>
              <a:srgbClr val="FA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6"/>
          <p:cNvSpPr/>
          <p:nvPr/>
        </p:nvSpPr>
        <p:spPr>
          <a:xfrm>
            <a:off x="5841802" y="3756571"/>
            <a:ext cx="1529804" cy="1912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Прогнозирование</a:t>
            </a:r>
            <a:endParaRPr b="0" i="0" sz="1200" u="none" cap="none" strike="noStrike"/>
          </a:p>
        </p:txBody>
      </p:sp>
      <p:sp>
        <p:nvSpPr>
          <p:cNvPr id="149" name="Google Shape;149;p16"/>
          <p:cNvSpPr/>
          <p:nvPr/>
        </p:nvSpPr>
        <p:spPr>
          <a:xfrm>
            <a:off x="4772099" y="4005635"/>
            <a:ext cx="3669209" cy="292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50"/>
              <a:buFont typeface="Inter Tight"/>
              <a:buNone/>
            </a:pPr>
            <a:r>
              <a:rPr b="0" i="0" lang="en-US" sz="10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AI объясняет риск простым языком и делает прогнозы на основе данных</a:t>
            </a:r>
            <a:endParaRPr b="0" i="0" sz="10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/>
          <p:nvPr/>
        </p:nvSpPr>
        <p:spPr>
          <a:xfrm>
            <a:off x="550664" y="558998"/>
            <a:ext cx="8042672" cy="1092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3400"/>
              <a:buFont typeface="Inter"/>
              <a:buNone/>
            </a:pPr>
            <a:r>
              <a:rPr b="1" i="0" lang="en-US" sz="3400" u="none" cap="none" strike="noStrike">
                <a:solidFill>
                  <a:srgbClr val="F0FCFF"/>
                </a:solidFill>
                <a:latin typeface="Inter"/>
                <a:ea typeface="Inter"/>
                <a:cs typeface="Inter"/>
                <a:sym typeface="Inter"/>
              </a:rPr>
              <a:t>Рынок в деньгах: SOM 417 млн ₸ годового ARR-пула</a:t>
            </a:r>
            <a:endParaRPr b="0" i="0" sz="3400" u="none" cap="none" strike="noStrike"/>
          </a:p>
        </p:txBody>
      </p:sp>
      <p:sp>
        <p:nvSpPr>
          <p:cNvPr id="156" name="Google Shape;156;p17"/>
          <p:cNvSpPr/>
          <p:nvPr/>
        </p:nvSpPr>
        <p:spPr>
          <a:xfrm>
            <a:off x="550664" y="2045047"/>
            <a:ext cx="8042672" cy="737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500"/>
              <a:buFont typeface="Inter Tight"/>
              <a:buNone/>
            </a:pPr>
            <a:r>
              <a:rPr b="0" i="0" lang="en-US" sz="15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Пересчёт клиентов в деньги основан на ARPU </a:t>
            </a:r>
            <a:r>
              <a:rPr lang="en-US" sz="1500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7500 </a:t>
            </a:r>
            <a:r>
              <a:rPr b="0" i="0" lang="en-US" sz="15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₸/мес по базовой unit-экономике. Казахстанский рынок недостаточно закрыт специализированными SaaS-решениями для ежедневного управления финансами МСБ.</a:t>
            </a:r>
            <a:endParaRPr b="0" i="0" sz="1500" u="none" cap="none" strike="noStrike"/>
          </a:p>
        </p:txBody>
      </p:sp>
      <p:sp>
        <p:nvSpPr>
          <p:cNvPr id="157" name="Google Shape;157;p17"/>
          <p:cNvSpPr/>
          <p:nvPr/>
        </p:nvSpPr>
        <p:spPr>
          <a:xfrm>
            <a:off x="550664" y="3200326"/>
            <a:ext cx="2485355" cy="2731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1700"/>
              <a:buFont typeface="Inter"/>
              <a:buNone/>
            </a:pPr>
            <a:r>
              <a:rPr b="1" i="0" lang="en-US" sz="1700" u="none" cap="none" strike="noStrike">
                <a:solidFill>
                  <a:srgbClr val="F0FCFF"/>
                </a:solidFill>
                <a:latin typeface="Inter"/>
                <a:ea typeface="Inter"/>
                <a:cs typeface="Inter"/>
                <a:sym typeface="Inter"/>
              </a:rPr>
              <a:t>Логика расчёта рынка</a:t>
            </a:r>
            <a:endParaRPr b="0" i="0" sz="1700" u="none" cap="none" strike="noStrike"/>
          </a:p>
        </p:txBody>
      </p:sp>
      <p:sp>
        <p:nvSpPr>
          <p:cNvPr id="158" name="Google Shape;158;p17"/>
          <p:cNvSpPr/>
          <p:nvPr/>
        </p:nvSpPr>
        <p:spPr>
          <a:xfrm>
            <a:off x="550664" y="3670176"/>
            <a:ext cx="4633615" cy="737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500"/>
              <a:buFont typeface="Inter Tight"/>
              <a:buNone/>
            </a:pPr>
            <a:r>
              <a:rPr b="0" i="0" lang="en-US" sz="15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Из 2,3 млн+ действующих МСБ Казахстана Finvy берёт не весь рынок, а первый достижимый сегмент.</a:t>
            </a:r>
            <a:endParaRPr b="0" i="0" sz="1500" u="none" cap="none" strike="noStrike"/>
          </a:p>
        </p:txBody>
      </p:sp>
      <p:sp>
        <p:nvSpPr>
          <p:cNvPr id="159" name="Google Shape;159;p17"/>
          <p:cNvSpPr/>
          <p:nvPr/>
        </p:nvSpPr>
        <p:spPr>
          <a:xfrm>
            <a:off x="5527253" y="3003649"/>
            <a:ext cx="3212381" cy="1580852"/>
          </a:xfrm>
          <a:prstGeom prst="roundRect">
            <a:avLst>
              <a:gd fmla="val 29861" name="adj"/>
            </a:avLst>
          </a:prstGeom>
          <a:solidFill>
            <a:srgbClr val="124DF0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5723930" y="3425354"/>
            <a:ext cx="2819028" cy="737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nter Tight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5 000 клиентов</a:t>
            </a:r>
            <a:r>
              <a:rPr b="0" i="0" lang="en-US" sz="150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  — реалистичная цель после пилотов и партнёрских каналов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/>
          <p:nvPr/>
        </p:nvSpPr>
        <p:spPr>
          <a:xfrm>
            <a:off x="524917" y="605730"/>
            <a:ext cx="8094166" cy="676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F0FCFF"/>
                </a:solidFill>
                <a:latin typeface="Inter"/>
                <a:ea typeface="Inter"/>
                <a:cs typeface="Inter"/>
                <a:sym typeface="Inter"/>
              </a:rPr>
              <a:t>B2B SaaS: подписка сегодня, enterprise-upside после Open API</a:t>
            </a:r>
            <a:endParaRPr b="0" i="0" sz="2100" u="none" cap="none" strike="noStrike"/>
          </a:p>
        </p:txBody>
      </p:sp>
      <p:sp>
        <p:nvSpPr>
          <p:cNvPr id="167" name="Google Shape;167;p18"/>
          <p:cNvSpPr/>
          <p:nvPr/>
        </p:nvSpPr>
        <p:spPr>
          <a:xfrm>
            <a:off x="524817" y="1354250"/>
            <a:ext cx="80943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1250"/>
              <a:buFont typeface="Inter"/>
              <a:buNone/>
            </a:pPr>
            <a:r>
              <a:rPr i="0" lang="en-US" sz="1250" u="none" cap="none" strike="noStrike">
                <a:solidFill>
                  <a:srgbClr val="F0FCFF"/>
                </a:solidFill>
                <a:latin typeface="Inter"/>
                <a:ea typeface="Inter"/>
                <a:cs typeface="Inter"/>
                <a:sym typeface="Inter"/>
              </a:rPr>
              <a:t>Монетизация строится на предсказуемой ежемесячной подписке для четырёх сегментов, затем расширяется корпоративными интеграциями и партнёрскими программами с банками, </a:t>
            </a:r>
            <a:r>
              <a:rPr lang="en-US" sz="1200">
                <a:solidFill>
                  <a:srgbClr val="F0FCFF"/>
                </a:solidFill>
                <a:highlight>
                  <a:srgbClr val="181818"/>
                </a:highlight>
                <a:latin typeface="Inter Tight"/>
                <a:ea typeface="Inter Tight"/>
                <a:cs typeface="Inter Tight"/>
                <a:sym typeface="Inter Tight"/>
              </a:rPr>
              <a:t>к</a:t>
            </a:r>
            <a:r>
              <a:rPr lang="en-US" sz="1200">
                <a:solidFill>
                  <a:srgbClr val="F0FCFF"/>
                </a:solidFill>
                <a:latin typeface="Inter Tight"/>
                <a:ea typeface="Inter Tight"/>
                <a:cs typeface="Inter Tight"/>
                <a:sym typeface="Inter Tight"/>
              </a:rPr>
              <a:t>риптосчёт по адресу кошелька</a:t>
            </a:r>
            <a:r>
              <a:rPr i="0" lang="en-US" sz="1250" u="none" cap="none" strike="noStrike">
                <a:solidFill>
                  <a:srgbClr val="F0FCFF"/>
                </a:solidFill>
                <a:latin typeface="Inter"/>
                <a:ea typeface="Inter"/>
                <a:cs typeface="Inter"/>
                <a:sym typeface="Inter"/>
              </a:rPr>
              <a:t> и бухгалтерскими сервисами.</a:t>
            </a:r>
            <a:endParaRPr b="0" i="0" sz="1250" u="none" cap="none" strike="noStrike"/>
          </a:p>
        </p:txBody>
      </p:sp>
      <p:sp>
        <p:nvSpPr>
          <p:cNvPr id="168" name="Google Shape;168;p18"/>
          <p:cNvSpPr/>
          <p:nvPr/>
        </p:nvSpPr>
        <p:spPr>
          <a:xfrm>
            <a:off x="524917" y="2217688"/>
            <a:ext cx="2647727" cy="1193676"/>
          </a:xfrm>
          <a:prstGeom prst="roundRect">
            <a:avLst>
              <a:gd fmla="val 5745" name="adj"/>
            </a:avLst>
          </a:prstGeom>
          <a:solidFill>
            <a:srgbClr val="0A081B">
              <a:alpha val="74901"/>
            </a:srgbClr>
          </a:solidFill>
          <a:ln cap="flat" cmpd="sng" w="14275">
            <a:solidFill>
              <a:srgbClr val="16FF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524917" y="2203400"/>
            <a:ext cx="2647727" cy="57150"/>
          </a:xfrm>
          <a:prstGeom prst="roundRect">
            <a:avLst>
              <a:gd fmla="val 319834" name="adj"/>
            </a:avLst>
          </a:prstGeom>
          <a:solidFill>
            <a:srgbClr val="16FF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1665982" y="2034927"/>
            <a:ext cx="365522" cy="365522"/>
          </a:xfrm>
          <a:prstGeom prst="roundRect">
            <a:avLst>
              <a:gd fmla="val 156352" name="adj"/>
            </a:avLst>
          </a:prstGeom>
          <a:solidFill>
            <a:srgbClr val="16FF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1775594" y="2126307"/>
            <a:ext cx="146224" cy="182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150" u="none" cap="none" strike="noStrike"/>
          </a:p>
        </p:txBody>
      </p:sp>
      <p:sp>
        <p:nvSpPr>
          <p:cNvPr id="172" name="Google Shape;172;p18"/>
          <p:cNvSpPr/>
          <p:nvPr/>
        </p:nvSpPr>
        <p:spPr>
          <a:xfrm>
            <a:off x="1171798" y="2522265"/>
            <a:ext cx="1353964" cy="169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Starter</a:t>
            </a:r>
            <a:endParaRPr b="0" i="0" sz="1050" u="none" cap="none" strike="noStrike"/>
          </a:p>
        </p:txBody>
      </p:sp>
      <p:sp>
        <p:nvSpPr>
          <p:cNvPr id="173" name="Google Shape;173;p18"/>
          <p:cNvSpPr/>
          <p:nvPr/>
        </p:nvSpPr>
        <p:spPr>
          <a:xfrm>
            <a:off x="661020" y="2736800"/>
            <a:ext cx="2375520" cy="123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4DF0"/>
              </a:buClr>
              <a:buSzPts val="950"/>
              <a:buFont typeface="Inter Tight"/>
              <a:buNone/>
            </a:pPr>
            <a:r>
              <a:rPr b="1" i="0" lang="en-US" sz="950" u="none" cap="none" strike="noStrike">
                <a:solidFill>
                  <a:srgbClr val="124DF0"/>
                </a:solidFill>
                <a:latin typeface="Inter Tight"/>
                <a:ea typeface="Inter Tight"/>
                <a:cs typeface="Inter Tight"/>
                <a:sym typeface="Inter Tight"/>
              </a:rPr>
              <a:t>4 500 ₸/мес</a:t>
            </a:r>
            <a:endParaRPr b="0" i="0" sz="950" u="none" cap="none" strike="noStrike"/>
          </a:p>
        </p:txBody>
      </p:sp>
      <p:sp>
        <p:nvSpPr>
          <p:cNvPr id="174" name="Google Shape;174;p18"/>
          <p:cNvSpPr/>
          <p:nvPr/>
        </p:nvSpPr>
        <p:spPr>
          <a:xfrm>
            <a:off x="661020" y="2905348"/>
            <a:ext cx="2375520" cy="246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950"/>
              <a:buFont typeface="Inter Tight"/>
              <a:buNone/>
            </a:pPr>
            <a:r>
              <a:rPr b="0" i="0" lang="en-US" sz="9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Физлица и фрилансеры. Базовый учёт операций, один счёт, AI-сводка.</a:t>
            </a:r>
            <a:endParaRPr b="0" i="0" sz="950" u="none" cap="none" strike="noStrike"/>
          </a:p>
        </p:txBody>
      </p:sp>
      <p:sp>
        <p:nvSpPr>
          <p:cNvPr id="175" name="Google Shape;175;p18"/>
          <p:cNvSpPr/>
          <p:nvPr/>
        </p:nvSpPr>
        <p:spPr>
          <a:xfrm>
            <a:off x="3248099" y="2217688"/>
            <a:ext cx="2647727" cy="1193676"/>
          </a:xfrm>
          <a:prstGeom prst="roundRect">
            <a:avLst>
              <a:gd fmla="val 5745" name="adj"/>
            </a:avLst>
          </a:prstGeom>
          <a:solidFill>
            <a:srgbClr val="0A081B">
              <a:alpha val="74901"/>
            </a:srgbClr>
          </a:solidFill>
          <a:ln cap="flat" cmpd="sng" w="14275">
            <a:solidFill>
              <a:srgbClr val="29D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3248099" y="2203400"/>
            <a:ext cx="2647727" cy="57150"/>
          </a:xfrm>
          <a:prstGeom prst="roundRect">
            <a:avLst>
              <a:gd fmla="val 319834" name="adj"/>
            </a:avLst>
          </a:prstGeom>
          <a:solidFill>
            <a:srgbClr val="29DD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4389165" y="2034927"/>
            <a:ext cx="365522" cy="365522"/>
          </a:xfrm>
          <a:prstGeom prst="roundRect">
            <a:avLst>
              <a:gd fmla="val 156352" name="adj"/>
            </a:avLst>
          </a:prstGeom>
          <a:solidFill>
            <a:srgbClr val="16FF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4498777" y="2126307"/>
            <a:ext cx="146224" cy="182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150" u="none" cap="none" strike="noStrike"/>
          </a:p>
        </p:txBody>
      </p:sp>
      <p:sp>
        <p:nvSpPr>
          <p:cNvPr id="179" name="Google Shape;179;p18"/>
          <p:cNvSpPr/>
          <p:nvPr/>
        </p:nvSpPr>
        <p:spPr>
          <a:xfrm>
            <a:off x="3894981" y="2522265"/>
            <a:ext cx="1353964" cy="169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Business</a:t>
            </a:r>
            <a:endParaRPr b="0" i="0" sz="1050" u="none" cap="none" strike="noStrike"/>
          </a:p>
        </p:txBody>
      </p:sp>
      <p:sp>
        <p:nvSpPr>
          <p:cNvPr id="180" name="Google Shape;180;p18"/>
          <p:cNvSpPr/>
          <p:nvPr/>
        </p:nvSpPr>
        <p:spPr>
          <a:xfrm>
            <a:off x="3384203" y="2736800"/>
            <a:ext cx="2375520" cy="123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4DF0"/>
              </a:buClr>
              <a:buSzPts val="950"/>
              <a:buFont typeface="Inter Tight"/>
              <a:buNone/>
            </a:pPr>
            <a:r>
              <a:rPr b="1" i="0" lang="en-US" sz="950" u="none" cap="none" strike="noStrike">
                <a:solidFill>
                  <a:srgbClr val="124DF0"/>
                </a:solidFill>
                <a:latin typeface="Inter Tight"/>
                <a:ea typeface="Inter Tight"/>
                <a:cs typeface="Inter Tight"/>
                <a:sym typeface="Inter Tight"/>
              </a:rPr>
              <a:t>9 000 ₸/мес</a:t>
            </a:r>
            <a:endParaRPr b="0" i="0" sz="950" u="none" cap="none" strike="noStrike"/>
          </a:p>
        </p:txBody>
      </p:sp>
      <p:sp>
        <p:nvSpPr>
          <p:cNvPr id="181" name="Google Shape;181;p18"/>
          <p:cNvSpPr/>
          <p:nvPr/>
        </p:nvSpPr>
        <p:spPr>
          <a:xfrm>
            <a:off x="3384203" y="2905348"/>
            <a:ext cx="2375520" cy="246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950"/>
              <a:buFont typeface="Inter Tight"/>
              <a:buNone/>
            </a:pPr>
            <a:r>
              <a:rPr b="0" i="0" lang="en-US" sz="9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Микробизнес и ИП. До 3 счетов, P&amp;L, налоговый календарь, выгрузки.</a:t>
            </a:r>
            <a:endParaRPr b="0" i="0" sz="950" u="none" cap="none" strike="noStrike"/>
          </a:p>
        </p:txBody>
      </p:sp>
      <p:sp>
        <p:nvSpPr>
          <p:cNvPr id="182" name="Google Shape;182;p18"/>
          <p:cNvSpPr/>
          <p:nvPr/>
        </p:nvSpPr>
        <p:spPr>
          <a:xfrm>
            <a:off x="5971282" y="2217688"/>
            <a:ext cx="2647727" cy="1193676"/>
          </a:xfrm>
          <a:prstGeom prst="roundRect">
            <a:avLst>
              <a:gd fmla="val 5745" name="adj"/>
            </a:avLst>
          </a:prstGeom>
          <a:solidFill>
            <a:srgbClr val="0A081B">
              <a:alpha val="74901"/>
            </a:srgbClr>
          </a:solidFill>
          <a:ln cap="flat" cmpd="sng" w="14275">
            <a:solidFill>
              <a:srgbClr val="37A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5971282" y="2203400"/>
            <a:ext cx="2647727" cy="57150"/>
          </a:xfrm>
          <a:prstGeom prst="roundRect">
            <a:avLst>
              <a:gd fmla="val 319834" name="adj"/>
            </a:avLst>
          </a:prstGeom>
          <a:solidFill>
            <a:srgbClr val="37A7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7112347" y="2034927"/>
            <a:ext cx="365522" cy="365522"/>
          </a:xfrm>
          <a:prstGeom prst="roundRect">
            <a:avLst>
              <a:gd fmla="val 156352" name="adj"/>
            </a:avLst>
          </a:prstGeom>
          <a:solidFill>
            <a:srgbClr val="16FF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8"/>
          <p:cNvSpPr/>
          <p:nvPr/>
        </p:nvSpPr>
        <p:spPr>
          <a:xfrm>
            <a:off x="7221959" y="2126307"/>
            <a:ext cx="146224" cy="182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150" u="none" cap="none" strike="noStrike"/>
          </a:p>
        </p:txBody>
      </p:sp>
      <p:sp>
        <p:nvSpPr>
          <p:cNvPr id="186" name="Google Shape;186;p18"/>
          <p:cNvSpPr/>
          <p:nvPr/>
        </p:nvSpPr>
        <p:spPr>
          <a:xfrm>
            <a:off x="6618163" y="2522265"/>
            <a:ext cx="1353964" cy="169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Corporate</a:t>
            </a:r>
            <a:endParaRPr b="0" i="0" sz="1050" u="none" cap="none" strike="noStrike"/>
          </a:p>
        </p:txBody>
      </p:sp>
      <p:sp>
        <p:nvSpPr>
          <p:cNvPr id="187" name="Google Shape;187;p18"/>
          <p:cNvSpPr/>
          <p:nvPr/>
        </p:nvSpPr>
        <p:spPr>
          <a:xfrm>
            <a:off x="6107385" y="2736800"/>
            <a:ext cx="2375520" cy="123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4DF0"/>
              </a:buClr>
              <a:buSzPts val="950"/>
              <a:buFont typeface="Inter Tight"/>
              <a:buNone/>
            </a:pPr>
            <a:r>
              <a:rPr b="1" i="0" lang="en-US" sz="950" u="none" cap="none" strike="noStrike">
                <a:solidFill>
                  <a:srgbClr val="124DF0"/>
                </a:solidFill>
                <a:latin typeface="Inter Tight"/>
                <a:ea typeface="Inter Tight"/>
                <a:cs typeface="Inter Tight"/>
                <a:sym typeface="Inter Tight"/>
              </a:rPr>
              <a:t>Договорная</a:t>
            </a:r>
            <a:endParaRPr b="0" i="0" sz="950" u="none" cap="none" strike="noStrike"/>
          </a:p>
        </p:txBody>
      </p:sp>
      <p:sp>
        <p:nvSpPr>
          <p:cNvPr id="188" name="Google Shape;188;p18"/>
          <p:cNvSpPr/>
          <p:nvPr/>
        </p:nvSpPr>
        <p:spPr>
          <a:xfrm>
            <a:off x="6107385" y="2905348"/>
            <a:ext cx="2375520" cy="369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950"/>
              <a:buFont typeface="Inter Tight"/>
              <a:buNone/>
            </a:pPr>
            <a:r>
              <a:rPr b="0" i="0" lang="en-US" sz="9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Малый бизнес и ТОО. Неограниченные счета, роли, отчёты, приоритетная поддержка.</a:t>
            </a:r>
            <a:endParaRPr b="0" i="0" sz="950" u="none" cap="none" strike="noStrike"/>
          </a:p>
        </p:txBody>
      </p:sp>
      <p:sp>
        <p:nvSpPr>
          <p:cNvPr id="189" name="Google Shape;189;p18"/>
          <p:cNvSpPr/>
          <p:nvPr/>
        </p:nvSpPr>
        <p:spPr>
          <a:xfrm>
            <a:off x="986061" y="3557141"/>
            <a:ext cx="1712788" cy="40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3150"/>
              <a:buFont typeface="Inter"/>
              <a:buNone/>
            </a:pPr>
            <a:r>
              <a:rPr b="1" lang="en-US" sz="3150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7500</a:t>
            </a:r>
            <a:r>
              <a:rPr b="1" i="0" lang="en-US" sz="315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 ₸</a:t>
            </a:r>
            <a:endParaRPr b="0" i="0" sz="3150" u="none" cap="none" strike="noStrike"/>
          </a:p>
        </p:txBody>
      </p:sp>
      <p:sp>
        <p:nvSpPr>
          <p:cNvPr id="190" name="Google Shape;190;p18"/>
          <p:cNvSpPr/>
          <p:nvPr/>
        </p:nvSpPr>
        <p:spPr>
          <a:xfrm>
            <a:off x="1165473" y="4076626"/>
            <a:ext cx="1353964" cy="169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ARPU в финмодели</a:t>
            </a:r>
            <a:endParaRPr b="0" i="0" sz="1050" u="none" cap="none" strike="noStrike"/>
          </a:p>
        </p:txBody>
      </p:sp>
      <p:sp>
        <p:nvSpPr>
          <p:cNvPr id="191" name="Google Shape;191;p18"/>
          <p:cNvSpPr/>
          <p:nvPr/>
        </p:nvSpPr>
        <p:spPr>
          <a:xfrm>
            <a:off x="524917" y="4291161"/>
            <a:ext cx="2635151" cy="246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950"/>
              <a:buFont typeface="Inter Tight"/>
              <a:buNone/>
            </a:pPr>
            <a:r>
              <a:rPr b="0" i="0" lang="en-US" sz="9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Средний чек mix B2B — взвешенный по распределению тарифов</a:t>
            </a:r>
            <a:endParaRPr b="0" i="0" sz="950" u="none" cap="none" strike="noStrike"/>
          </a:p>
        </p:txBody>
      </p:sp>
      <p:sp>
        <p:nvSpPr>
          <p:cNvPr id="192" name="Google Shape;192;p18"/>
          <p:cNvSpPr/>
          <p:nvPr/>
        </p:nvSpPr>
        <p:spPr>
          <a:xfrm>
            <a:off x="3715569" y="3557141"/>
            <a:ext cx="1712788" cy="40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3150"/>
              <a:buFont typeface="Inter"/>
              <a:buNone/>
            </a:pPr>
            <a:r>
              <a:rPr b="1" i="0" lang="en-US" sz="315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65%</a:t>
            </a:r>
            <a:endParaRPr b="0" i="0" sz="3150" u="none" cap="none" strike="noStrike"/>
          </a:p>
        </p:txBody>
      </p:sp>
      <p:sp>
        <p:nvSpPr>
          <p:cNvPr id="193" name="Google Shape;193;p18"/>
          <p:cNvSpPr/>
          <p:nvPr/>
        </p:nvSpPr>
        <p:spPr>
          <a:xfrm>
            <a:off x="3894981" y="4076626"/>
            <a:ext cx="1353964" cy="169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Gross Margin</a:t>
            </a:r>
            <a:endParaRPr b="0" i="0" sz="1050" u="none" cap="none" strike="noStrike"/>
          </a:p>
        </p:txBody>
      </p:sp>
      <p:sp>
        <p:nvSpPr>
          <p:cNvPr id="194" name="Google Shape;194;p18"/>
          <p:cNvSpPr/>
          <p:nvPr/>
        </p:nvSpPr>
        <p:spPr>
          <a:xfrm>
            <a:off x="3254425" y="4291161"/>
            <a:ext cx="2635151" cy="246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950"/>
              <a:buFont typeface="Inter Tight"/>
              <a:buNone/>
            </a:pPr>
            <a:r>
              <a:rPr b="0" i="0" lang="en-US" sz="9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Валовая маржа SaaS после инфраструктурных затрат — высокий уровень для B2B</a:t>
            </a:r>
            <a:endParaRPr b="0" i="0" sz="950" u="none" cap="none" strike="noStrike"/>
          </a:p>
        </p:txBody>
      </p:sp>
      <p:sp>
        <p:nvSpPr>
          <p:cNvPr id="195" name="Google Shape;195;p18"/>
          <p:cNvSpPr/>
          <p:nvPr/>
        </p:nvSpPr>
        <p:spPr>
          <a:xfrm>
            <a:off x="6445076" y="3557141"/>
            <a:ext cx="1712788" cy="40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3150"/>
              <a:buFont typeface="Inter"/>
              <a:buNone/>
            </a:pPr>
            <a:r>
              <a:rPr b="1" i="0" lang="en-US" sz="315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Custom</a:t>
            </a:r>
            <a:endParaRPr b="0" i="0" sz="3150" u="none" cap="none" strike="noStrike"/>
          </a:p>
        </p:txBody>
      </p:sp>
      <p:sp>
        <p:nvSpPr>
          <p:cNvPr id="196" name="Google Shape;196;p18"/>
          <p:cNvSpPr/>
          <p:nvPr/>
        </p:nvSpPr>
        <p:spPr>
          <a:xfrm>
            <a:off x="6624489" y="4076626"/>
            <a:ext cx="1353964" cy="169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Enterprise Upside</a:t>
            </a:r>
            <a:endParaRPr b="0" i="0" sz="1050" u="none" cap="none" strike="noStrike"/>
          </a:p>
        </p:txBody>
      </p:sp>
      <p:sp>
        <p:nvSpPr>
          <p:cNvPr id="197" name="Google Shape;197;p18"/>
          <p:cNvSpPr/>
          <p:nvPr/>
        </p:nvSpPr>
        <p:spPr>
          <a:xfrm>
            <a:off x="5983932" y="4291161"/>
            <a:ext cx="2635151" cy="246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950"/>
              <a:buFont typeface="Inter Tight"/>
              <a:buNone/>
            </a:pPr>
            <a:r>
              <a:rPr b="0" i="0" lang="en-US" sz="9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Роли, отчёты, интеграции — после интеграции API и банковской инфраструктуры</a:t>
            </a:r>
            <a:endParaRPr b="0" i="0" sz="9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9"/>
          <p:cNvSpPr/>
          <p:nvPr/>
        </p:nvSpPr>
        <p:spPr>
          <a:xfrm>
            <a:off x="550664" y="555873"/>
            <a:ext cx="8042672" cy="710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F0FCFF"/>
                </a:solidFill>
                <a:latin typeface="Inter"/>
                <a:ea typeface="Inter"/>
                <a:cs typeface="Inter"/>
                <a:sym typeface="Inter"/>
              </a:rPr>
              <a:t>Инвестор получает 10% доли и понятные сценарии возврата</a:t>
            </a:r>
            <a:endParaRPr b="0" i="0" sz="2200" u="none" cap="none" strike="noStrike"/>
          </a:p>
        </p:txBody>
      </p:sp>
      <p:sp>
        <p:nvSpPr>
          <p:cNvPr id="204" name="Google Shape;204;p19"/>
          <p:cNvSpPr/>
          <p:nvPr/>
        </p:nvSpPr>
        <p:spPr>
          <a:xfrm>
            <a:off x="550664" y="1432247"/>
            <a:ext cx="8042672" cy="329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50"/>
              <a:buFont typeface="Inter Tight"/>
              <a:buNone/>
            </a:pPr>
            <a:r>
              <a:rPr b="0" i="0" lang="en-US" sz="12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По финансовой модели: выход через M&amp;A / Series A или дивиденды после достижения break-even на M16–M18. Раунд </a:t>
            </a:r>
            <a:r>
              <a:rPr b="1" i="0" lang="en-US" sz="12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$210k (105 млн ₸)</a:t>
            </a:r>
            <a:r>
              <a:rPr b="0" i="0" lang="en-US" sz="12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 за 10% — прямые инвестиции без конвертируемого займа.</a:t>
            </a:r>
            <a:endParaRPr b="0" i="0" sz="1250" u="none" cap="none" strike="noStrike"/>
          </a:p>
        </p:txBody>
      </p:sp>
      <p:sp>
        <p:nvSpPr>
          <p:cNvPr id="205" name="Google Shape;205;p19"/>
          <p:cNvSpPr/>
          <p:nvPr/>
        </p:nvSpPr>
        <p:spPr>
          <a:xfrm>
            <a:off x="550664" y="1963547"/>
            <a:ext cx="8042700" cy="1284900"/>
          </a:xfrm>
          <a:prstGeom prst="roundRect">
            <a:avLst>
              <a:gd fmla="val 14925" name="adj"/>
            </a:avLst>
          </a:prstGeom>
          <a:noFill/>
          <a:ln cap="flat" cmpd="sng" w="9525">
            <a:solidFill>
              <a:srgbClr val="FFFFFF">
                <a:alpha val="2392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9"/>
          <p:cNvSpPr/>
          <p:nvPr/>
        </p:nvSpPr>
        <p:spPr>
          <a:xfrm>
            <a:off x="683419" y="2022929"/>
            <a:ext cx="1509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50"/>
              <a:buFont typeface="Inter Tight"/>
              <a:buNone/>
            </a:pPr>
            <a:r>
              <a:rPr b="1" i="0" lang="en-US" sz="12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Сценарий</a:t>
            </a:r>
            <a:endParaRPr b="0" i="0" sz="1250" u="none" cap="none" strike="noStrike"/>
          </a:p>
        </p:txBody>
      </p:sp>
      <p:sp>
        <p:nvSpPr>
          <p:cNvPr id="207" name="Google Shape;207;p19"/>
          <p:cNvSpPr/>
          <p:nvPr/>
        </p:nvSpPr>
        <p:spPr>
          <a:xfrm>
            <a:off x="2453060" y="2022929"/>
            <a:ext cx="1024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50"/>
              <a:buFont typeface="Inter Tight"/>
              <a:buNone/>
            </a:pPr>
            <a:r>
              <a:rPr b="1" i="0" lang="en-US" sz="12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Срок</a:t>
            </a:r>
            <a:endParaRPr b="0" i="0" sz="1250" u="none" cap="none" strike="noStrike"/>
          </a:p>
        </p:txBody>
      </p:sp>
      <p:sp>
        <p:nvSpPr>
          <p:cNvPr id="208" name="Google Shape;208;p19"/>
          <p:cNvSpPr/>
          <p:nvPr/>
        </p:nvSpPr>
        <p:spPr>
          <a:xfrm>
            <a:off x="3738339" y="2022929"/>
            <a:ext cx="1506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50"/>
              <a:buFont typeface="Inter Tight"/>
              <a:buNone/>
            </a:pPr>
            <a:r>
              <a:rPr b="1" i="0" lang="en-US" sz="12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Доля 10%</a:t>
            </a:r>
            <a:endParaRPr b="0" i="0" sz="1250" u="none" cap="none" strike="noStrike"/>
          </a:p>
        </p:txBody>
      </p:sp>
      <p:sp>
        <p:nvSpPr>
          <p:cNvPr id="209" name="Google Shape;209;p19"/>
          <p:cNvSpPr/>
          <p:nvPr/>
        </p:nvSpPr>
        <p:spPr>
          <a:xfrm>
            <a:off x="5505599" y="2022929"/>
            <a:ext cx="1024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50"/>
              <a:buFont typeface="Inter Tight"/>
              <a:buNone/>
            </a:pPr>
            <a:r>
              <a:rPr b="1" i="0" lang="en-US" sz="12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ROI</a:t>
            </a:r>
            <a:endParaRPr b="0" i="0" sz="1250" u="none" cap="none" strike="noStrike"/>
          </a:p>
        </p:txBody>
      </p:sp>
      <p:sp>
        <p:nvSpPr>
          <p:cNvPr id="210" name="Google Shape;210;p19"/>
          <p:cNvSpPr/>
          <p:nvPr/>
        </p:nvSpPr>
        <p:spPr>
          <a:xfrm>
            <a:off x="6790879" y="2022929"/>
            <a:ext cx="1669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50"/>
              <a:buFont typeface="Inter Tight"/>
              <a:buNone/>
            </a:pPr>
            <a:r>
              <a:rPr b="1" i="0" lang="en-US" sz="12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Цель M18</a:t>
            </a:r>
            <a:endParaRPr b="0" i="0" sz="1250" u="none" cap="none" strike="noStrike"/>
          </a:p>
        </p:txBody>
      </p:sp>
      <p:sp>
        <p:nvSpPr>
          <p:cNvPr id="211" name="Google Shape;211;p19"/>
          <p:cNvSpPr/>
          <p:nvPr/>
        </p:nvSpPr>
        <p:spPr>
          <a:xfrm>
            <a:off x="683419" y="2301759"/>
            <a:ext cx="1509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50"/>
              <a:buFont typeface="Inter Tight"/>
              <a:buNone/>
            </a:pPr>
            <a:r>
              <a:rPr b="0" i="0" lang="en-US" sz="12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Консервативный</a:t>
            </a:r>
            <a:endParaRPr b="0" i="0" sz="1250" u="none" cap="none" strike="noStrike"/>
          </a:p>
        </p:txBody>
      </p:sp>
      <p:sp>
        <p:nvSpPr>
          <p:cNvPr id="212" name="Google Shape;212;p19"/>
          <p:cNvSpPr/>
          <p:nvPr/>
        </p:nvSpPr>
        <p:spPr>
          <a:xfrm>
            <a:off x="2453060" y="2301759"/>
            <a:ext cx="1024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50"/>
              <a:buFont typeface="Inter Tight"/>
              <a:buNone/>
            </a:pPr>
            <a:r>
              <a:rPr b="0" i="0" lang="en-US" sz="12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3 года</a:t>
            </a:r>
            <a:endParaRPr b="0" i="0" sz="1250" u="none" cap="none" strike="noStrike"/>
          </a:p>
        </p:txBody>
      </p:sp>
      <p:sp>
        <p:nvSpPr>
          <p:cNvPr id="213" name="Google Shape;213;p19"/>
          <p:cNvSpPr/>
          <p:nvPr/>
        </p:nvSpPr>
        <p:spPr>
          <a:xfrm>
            <a:off x="3738339" y="2301759"/>
            <a:ext cx="1506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50"/>
              <a:buFont typeface="Inter Tight"/>
              <a:buNone/>
            </a:pPr>
            <a:r>
              <a:rPr b="0" i="0" lang="en-US" sz="12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200 млн ₸</a:t>
            </a:r>
            <a:endParaRPr b="0" i="0" sz="1250" u="none" cap="none" strike="noStrike"/>
          </a:p>
        </p:txBody>
      </p:sp>
      <p:sp>
        <p:nvSpPr>
          <p:cNvPr id="214" name="Google Shape;214;p19"/>
          <p:cNvSpPr/>
          <p:nvPr/>
        </p:nvSpPr>
        <p:spPr>
          <a:xfrm>
            <a:off x="5505599" y="2301759"/>
            <a:ext cx="1024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50"/>
              <a:buFont typeface="Inter Tight"/>
              <a:buNone/>
            </a:pPr>
            <a:r>
              <a:rPr b="0" i="0" lang="en-US" sz="12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×1,9</a:t>
            </a:r>
            <a:endParaRPr b="0" i="0" sz="1250" u="none" cap="none" strike="noStrike"/>
          </a:p>
        </p:txBody>
      </p:sp>
      <p:sp>
        <p:nvSpPr>
          <p:cNvPr id="215" name="Google Shape;215;p19"/>
          <p:cNvSpPr/>
          <p:nvPr/>
        </p:nvSpPr>
        <p:spPr>
          <a:xfrm>
            <a:off x="6790879" y="2301759"/>
            <a:ext cx="16698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50"/>
              <a:buFont typeface="Inter Tight"/>
              <a:buNone/>
            </a:pPr>
            <a:r>
              <a:rPr b="0" i="0" lang="en-US" sz="12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ARR ≈ 200 млн ₸, 3 000+ клиентов</a:t>
            </a:r>
            <a:endParaRPr b="0" i="0" sz="1250" u="none" cap="none" strike="noStrike"/>
          </a:p>
        </p:txBody>
      </p:sp>
      <p:sp>
        <p:nvSpPr>
          <p:cNvPr id="216" name="Google Shape;216;p19"/>
          <p:cNvSpPr/>
          <p:nvPr/>
        </p:nvSpPr>
        <p:spPr>
          <a:xfrm>
            <a:off x="683419" y="2745415"/>
            <a:ext cx="1509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50"/>
              <a:buFont typeface="Inter Tight"/>
              <a:buNone/>
            </a:pPr>
            <a:r>
              <a:rPr b="0" i="0" lang="en-US" sz="12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Базовый</a:t>
            </a:r>
            <a:endParaRPr b="0" i="0" sz="1250" u="none" cap="none" strike="noStrike"/>
          </a:p>
        </p:txBody>
      </p:sp>
      <p:sp>
        <p:nvSpPr>
          <p:cNvPr id="217" name="Google Shape;217;p19"/>
          <p:cNvSpPr/>
          <p:nvPr/>
        </p:nvSpPr>
        <p:spPr>
          <a:xfrm>
            <a:off x="2453060" y="2745415"/>
            <a:ext cx="1024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50"/>
              <a:buFont typeface="Inter Tight"/>
              <a:buNone/>
            </a:pPr>
            <a:r>
              <a:rPr b="0" i="0" lang="en-US" sz="12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3,5 года</a:t>
            </a:r>
            <a:endParaRPr b="0" i="0" sz="1250" u="none" cap="none" strike="noStrike"/>
          </a:p>
        </p:txBody>
      </p:sp>
      <p:sp>
        <p:nvSpPr>
          <p:cNvPr id="218" name="Google Shape;218;p19"/>
          <p:cNvSpPr/>
          <p:nvPr/>
        </p:nvSpPr>
        <p:spPr>
          <a:xfrm>
            <a:off x="3738339" y="2745415"/>
            <a:ext cx="1506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50"/>
              <a:buFont typeface="Inter Tight"/>
              <a:buNone/>
            </a:pPr>
            <a:r>
              <a:rPr b="0" i="0" lang="en-US" sz="12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720 млн ₸</a:t>
            </a:r>
            <a:endParaRPr b="0" i="0" sz="1250" u="none" cap="none" strike="noStrike"/>
          </a:p>
        </p:txBody>
      </p:sp>
      <p:sp>
        <p:nvSpPr>
          <p:cNvPr id="219" name="Google Shape;219;p19"/>
          <p:cNvSpPr/>
          <p:nvPr/>
        </p:nvSpPr>
        <p:spPr>
          <a:xfrm>
            <a:off x="5505599" y="2745415"/>
            <a:ext cx="1024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50"/>
              <a:buFont typeface="Inter Tight"/>
              <a:buNone/>
            </a:pPr>
            <a:r>
              <a:rPr b="0" i="0" lang="en-US" sz="12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×6,9</a:t>
            </a:r>
            <a:endParaRPr b="0" i="0" sz="1250" u="none" cap="none" strike="noStrike"/>
          </a:p>
        </p:txBody>
      </p:sp>
      <p:sp>
        <p:nvSpPr>
          <p:cNvPr id="220" name="Google Shape;220;p19"/>
          <p:cNvSpPr/>
          <p:nvPr/>
        </p:nvSpPr>
        <p:spPr>
          <a:xfrm>
            <a:off x="6790879" y="2745415"/>
            <a:ext cx="1669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50"/>
              <a:buFont typeface="Inter Tight"/>
              <a:buNone/>
            </a:pPr>
            <a:r>
              <a:rPr b="0" i="0" lang="en-US" sz="12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ARR ≈ 720 млн ₸</a:t>
            </a:r>
            <a:endParaRPr b="0" i="0" sz="1250" u="none" cap="none" strike="noStrike"/>
          </a:p>
        </p:txBody>
      </p:sp>
      <p:sp>
        <p:nvSpPr>
          <p:cNvPr id="221" name="Google Shape;221;p19"/>
          <p:cNvSpPr/>
          <p:nvPr/>
        </p:nvSpPr>
        <p:spPr>
          <a:xfrm>
            <a:off x="683419" y="3024245"/>
            <a:ext cx="1509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50"/>
              <a:buFont typeface="Inter Tight"/>
              <a:buNone/>
            </a:pPr>
            <a:r>
              <a:rPr b="0" i="0" lang="en-US" sz="12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Оптимистичный</a:t>
            </a:r>
            <a:endParaRPr b="0" i="0" sz="1250" u="none" cap="none" strike="noStrike"/>
          </a:p>
        </p:txBody>
      </p:sp>
      <p:sp>
        <p:nvSpPr>
          <p:cNvPr id="222" name="Google Shape;222;p19"/>
          <p:cNvSpPr/>
          <p:nvPr/>
        </p:nvSpPr>
        <p:spPr>
          <a:xfrm>
            <a:off x="2453060" y="3024245"/>
            <a:ext cx="1024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50"/>
              <a:buFont typeface="Inter Tight"/>
              <a:buNone/>
            </a:pPr>
            <a:r>
              <a:rPr b="0" i="0" lang="en-US" sz="12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5 лет</a:t>
            </a:r>
            <a:endParaRPr b="0" i="0" sz="1250" u="none" cap="none" strike="noStrike"/>
          </a:p>
        </p:txBody>
      </p:sp>
      <p:sp>
        <p:nvSpPr>
          <p:cNvPr id="223" name="Google Shape;223;p19"/>
          <p:cNvSpPr/>
          <p:nvPr/>
        </p:nvSpPr>
        <p:spPr>
          <a:xfrm>
            <a:off x="3738339" y="3024245"/>
            <a:ext cx="1506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50"/>
              <a:buFont typeface="Inter Tight"/>
              <a:buNone/>
            </a:pPr>
            <a:r>
              <a:rPr b="0" i="0" lang="en-US" sz="12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1,75 млрд ₸</a:t>
            </a:r>
            <a:endParaRPr b="0" i="0" sz="1250" u="none" cap="none" strike="noStrike"/>
          </a:p>
        </p:txBody>
      </p:sp>
      <p:sp>
        <p:nvSpPr>
          <p:cNvPr id="224" name="Google Shape;224;p19"/>
          <p:cNvSpPr/>
          <p:nvPr/>
        </p:nvSpPr>
        <p:spPr>
          <a:xfrm>
            <a:off x="5505599" y="3024245"/>
            <a:ext cx="1024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50"/>
              <a:buFont typeface="Inter Tight"/>
              <a:buNone/>
            </a:pPr>
            <a:r>
              <a:rPr b="0" i="0" lang="en-US" sz="12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×16,7</a:t>
            </a:r>
            <a:endParaRPr b="0" i="0" sz="1250" u="none" cap="none" strike="noStrike"/>
          </a:p>
        </p:txBody>
      </p:sp>
      <p:sp>
        <p:nvSpPr>
          <p:cNvPr id="225" name="Google Shape;225;p19"/>
          <p:cNvSpPr/>
          <p:nvPr/>
        </p:nvSpPr>
        <p:spPr>
          <a:xfrm>
            <a:off x="6790879" y="3024245"/>
            <a:ext cx="1669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50"/>
              <a:buFont typeface="Inter Tight"/>
              <a:buNone/>
            </a:pPr>
            <a:r>
              <a:rPr b="0" i="0" lang="en-US" sz="12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Series A ready</a:t>
            </a:r>
            <a:endParaRPr b="0" i="0" sz="1250" u="none" cap="none" strike="noStrike"/>
          </a:p>
        </p:txBody>
      </p:sp>
      <p:sp>
        <p:nvSpPr>
          <p:cNvPr id="226" name="Google Shape;226;p19"/>
          <p:cNvSpPr/>
          <p:nvPr/>
        </p:nvSpPr>
        <p:spPr>
          <a:xfrm>
            <a:off x="550664" y="3424965"/>
            <a:ext cx="3865500" cy="5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F0FCFF"/>
                </a:solidFill>
                <a:latin typeface="Inter"/>
                <a:ea typeface="Inter"/>
                <a:cs typeface="Inter"/>
                <a:sym typeface="Inter"/>
              </a:rPr>
              <a:t>Дополнительные права инвестора</a:t>
            </a:r>
            <a:endParaRPr b="0" i="0" sz="1750" u="none" cap="none" strike="noStrike"/>
          </a:p>
        </p:txBody>
      </p:sp>
      <p:sp>
        <p:nvSpPr>
          <p:cNvPr id="227" name="Google Shape;227;p19"/>
          <p:cNvSpPr/>
          <p:nvPr/>
        </p:nvSpPr>
        <p:spPr>
          <a:xfrm>
            <a:off x="550664" y="4076088"/>
            <a:ext cx="38655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None/>
            </a:pPr>
            <a:r>
              <a:rPr b="0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Pro-rata права на участие в следующем раунде финансирования</a:t>
            </a:r>
            <a:endParaRPr b="0" i="0" sz="1000" u="none" cap="none" strike="noStrike"/>
          </a:p>
        </p:txBody>
      </p:sp>
      <p:sp>
        <p:nvSpPr>
          <p:cNvPr id="228" name="Google Shape;228;p19"/>
          <p:cNvSpPr/>
          <p:nvPr/>
        </p:nvSpPr>
        <p:spPr>
          <a:xfrm>
            <a:off x="550664" y="4282661"/>
            <a:ext cx="38655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None/>
            </a:pPr>
            <a:r>
              <a:rPr b="0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Observer seat — наблюдательный статус без права голоса</a:t>
            </a:r>
            <a:endParaRPr b="0" i="0" sz="1000" u="none" cap="none" strike="noStrike"/>
          </a:p>
        </p:txBody>
      </p:sp>
      <p:sp>
        <p:nvSpPr>
          <p:cNvPr id="229" name="Google Shape;229;p19"/>
          <p:cNvSpPr/>
          <p:nvPr/>
        </p:nvSpPr>
        <p:spPr>
          <a:xfrm>
            <a:off x="550664" y="4489235"/>
            <a:ext cx="38655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None/>
            </a:pPr>
            <a:r>
              <a:rPr b="0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Ежеквартальная управленческая отчётность и доступ к метрикам</a:t>
            </a:r>
            <a:endParaRPr b="0" i="0" sz="1000" u="none" cap="none" strike="noStrike"/>
          </a:p>
        </p:txBody>
      </p:sp>
      <p:sp>
        <p:nvSpPr>
          <p:cNvPr id="230" name="Google Shape;230;p19"/>
          <p:cNvSpPr/>
          <p:nvPr/>
        </p:nvSpPr>
        <p:spPr>
          <a:xfrm>
            <a:off x="4640684" y="3341919"/>
            <a:ext cx="4049400" cy="1353900"/>
          </a:xfrm>
          <a:prstGeom prst="roundRect">
            <a:avLst>
              <a:gd fmla="val 22664" name="adj"/>
            </a:avLst>
          </a:prstGeom>
          <a:solidFill>
            <a:srgbClr val="124DF0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9"/>
          <p:cNvSpPr/>
          <p:nvPr/>
        </p:nvSpPr>
        <p:spPr>
          <a:xfrm>
            <a:off x="5431854" y="3592173"/>
            <a:ext cx="24669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F0FCFF"/>
                </a:solidFill>
                <a:latin typeface="Inter"/>
                <a:ea typeface="Inter"/>
                <a:cs typeface="Inter"/>
                <a:sym typeface="Inter"/>
              </a:rPr>
              <a:t>Дивиденды с M18/Y3</a:t>
            </a:r>
            <a:endParaRPr b="0" i="0" sz="1750" u="none" cap="none" strike="noStrike"/>
          </a:p>
        </p:txBody>
      </p:sp>
      <p:sp>
        <p:nvSpPr>
          <p:cNvPr id="232" name="Google Shape;232;p19"/>
          <p:cNvSpPr/>
          <p:nvPr/>
        </p:nvSpPr>
        <p:spPr>
          <a:xfrm>
            <a:off x="4768528" y="3959258"/>
            <a:ext cx="37938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Inter Tight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После достижения break-even и роста продаж через AISP: </a:t>
            </a:r>
            <a:r>
              <a:rPr b="1" i="0" lang="en-US" sz="125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~30 млн ₸/год</a:t>
            </a:r>
            <a:r>
              <a:rPr b="0" i="0" lang="en-US" sz="125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 при базовом сценарии. Series A: </a:t>
            </a:r>
            <a:r>
              <a:rPr b="1" i="0" lang="en-US" sz="125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$1–3M</a:t>
            </a:r>
            <a:r>
              <a:rPr b="0" i="0" lang="en-US" sz="125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 через 3–4 года.</a:t>
            </a:r>
            <a:endParaRPr b="0" i="0" sz="125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"/>
          <p:cNvSpPr/>
          <p:nvPr/>
        </p:nvSpPr>
        <p:spPr>
          <a:xfrm>
            <a:off x="481831" y="488379"/>
            <a:ext cx="6023670" cy="310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F0FCFF"/>
                </a:solidFill>
                <a:latin typeface="Inter"/>
                <a:ea typeface="Inter"/>
                <a:cs typeface="Inter"/>
                <a:sym typeface="Inter"/>
              </a:rPr>
              <a:t>Юнит-экономика: CAC окупается за </a:t>
            </a:r>
            <a:r>
              <a:rPr b="1" lang="en-US" sz="1950">
                <a:solidFill>
                  <a:srgbClr val="F0FCFF"/>
                </a:solidFill>
                <a:latin typeface="Inter"/>
                <a:ea typeface="Inter"/>
                <a:cs typeface="Inter"/>
                <a:sym typeface="Inter"/>
              </a:rPr>
              <a:t>1,6</a:t>
            </a:r>
            <a:r>
              <a:rPr b="1" i="0" lang="en-US" sz="1950" u="none" cap="none" strike="noStrike">
                <a:solidFill>
                  <a:srgbClr val="F0FCFF"/>
                </a:solidFill>
                <a:latin typeface="Inter"/>
                <a:ea typeface="Inter"/>
                <a:cs typeface="Inter"/>
                <a:sym typeface="Inter"/>
              </a:rPr>
              <a:t> месяца</a:t>
            </a:r>
            <a:endParaRPr b="0" i="0" sz="1950" u="none" cap="none" strike="noStrike"/>
          </a:p>
        </p:txBody>
      </p:sp>
      <p:sp>
        <p:nvSpPr>
          <p:cNvPr id="239" name="Google Shape;239;p20"/>
          <p:cNvSpPr/>
          <p:nvPr/>
        </p:nvSpPr>
        <p:spPr>
          <a:xfrm>
            <a:off x="481831" y="926381"/>
            <a:ext cx="8180338" cy="411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454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00"/>
              <a:buFont typeface="Inter Tight"/>
              <a:buNone/>
            </a:pPr>
            <a:r>
              <a:rPr b="0" i="0" lang="en-US" sz="12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Одной цены подписки мало для устойчивого роста — экономика сходится за счёт высокой валовой маржи, низкого стоимостного CAC и рекордно короткого payback-периода. Ключевые показатели подтверждают жизнеспособность бизнес-модели.</a:t>
            </a:r>
            <a:endParaRPr b="0" i="0" sz="1250" u="none" cap="none" strike="noStrike"/>
          </a:p>
        </p:txBody>
      </p:sp>
      <p:sp>
        <p:nvSpPr>
          <p:cNvPr id="240" name="Google Shape;240;p20"/>
          <p:cNvSpPr/>
          <p:nvPr/>
        </p:nvSpPr>
        <p:spPr>
          <a:xfrm>
            <a:off x="1190625" y="1523998"/>
            <a:ext cx="26328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300"/>
              <a:buFont typeface="Inter"/>
              <a:buNone/>
            </a:pPr>
            <a:r>
              <a:rPr b="1" lang="en-US" sz="2300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7500 </a:t>
            </a:r>
            <a:r>
              <a:rPr b="1" i="0" lang="en-US" sz="230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₸</a:t>
            </a:r>
            <a:endParaRPr b="0" i="0" sz="2300" u="none" cap="none" strike="noStrike"/>
          </a:p>
        </p:txBody>
      </p:sp>
      <p:sp>
        <p:nvSpPr>
          <p:cNvPr id="241" name="Google Shape;241;p20"/>
          <p:cNvSpPr/>
          <p:nvPr/>
        </p:nvSpPr>
        <p:spPr>
          <a:xfrm>
            <a:off x="1885578" y="1923973"/>
            <a:ext cx="12429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ARPU</a:t>
            </a:r>
            <a:endParaRPr b="0" i="0" sz="950" u="none" cap="none" strike="noStrike"/>
          </a:p>
        </p:txBody>
      </p:sp>
      <p:sp>
        <p:nvSpPr>
          <p:cNvPr id="242" name="Google Shape;242;p20"/>
          <p:cNvSpPr/>
          <p:nvPr/>
        </p:nvSpPr>
        <p:spPr>
          <a:xfrm>
            <a:off x="481831" y="2117450"/>
            <a:ext cx="4050300" cy="1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850"/>
              <a:buFont typeface="Inter Tight"/>
              <a:buNone/>
            </a:pPr>
            <a:r>
              <a:rPr b="0" i="0" lang="en-US" sz="8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Средний чек mix B2B — взвешенный по распределению тарифов в финмодели</a:t>
            </a:r>
            <a:endParaRPr b="0" i="0" sz="850" u="none" cap="none" strike="noStrike"/>
          </a:p>
        </p:txBody>
      </p:sp>
      <p:sp>
        <p:nvSpPr>
          <p:cNvPr id="243" name="Google Shape;243;p20"/>
          <p:cNvSpPr/>
          <p:nvPr/>
        </p:nvSpPr>
        <p:spPr>
          <a:xfrm>
            <a:off x="5320531" y="1523998"/>
            <a:ext cx="26328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300"/>
              <a:buFont typeface="Inter"/>
              <a:buNone/>
            </a:pPr>
            <a:r>
              <a:rPr b="1" i="0" lang="en-US" sz="230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65%</a:t>
            </a:r>
            <a:endParaRPr b="0" i="0" sz="2300" u="none" cap="none" strike="noStrike"/>
          </a:p>
        </p:txBody>
      </p:sp>
      <p:sp>
        <p:nvSpPr>
          <p:cNvPr id="244" name="Google Shape;244;p20"/>
          <p:cNvSpPr/>
          <p:nvPr/>
        </p:nvSpPr>
        <p:spPr>
          <a:xfrm>
            <a:off x="6015484" y="1923973"/>
            <a:ext cx="12429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Gross Margin</a:t>
            </a:r>
            <a:endParaRPr b="0" i="0" sz="950" u="none" cap="none" strike="noStrike"/>
          </a:p>
        </p:txBody>
      </p:sp>
      <p:sp>
        <p:nvSpPr>
          <p:cNvPr id="245" name="Google Shape;245;p20"/>
          <p:cNvSpPr/>
          <p:nvPr/>
        </p:nvSpPr>
        <p:spPr>
          <a:xfrm>
            <a:off x="4611737" y="2117450"/>
            <a:ext cx="4050300" cy="1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850"/>
              <a:buFont typeface="Inter Tight"/>
              <a:buNone/>
            </a:pPr>
            <a:r>
              <a:rPr b="0" i="0" lang="en-US" sz="8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Валовая маржа SaaS после облачной инфраструктуры и AI API</a:t>
            </a:r>
            <a:endParaRPr b="0" i="0" sz="850" u="none" cap="none" strike="noStrike"/>
          </a:p>
        </p:txBody>
      </p:sp>
      <p:sp>
        <p:nvSpPr>
          <p:cNvPr id="246" name="Google Shape;246;p20"/>
          <p:cNvSpPr/>
          <p:nvPr/>
        </p:nvSpPr>
        <p:spPr>
          <a:xfrm>
            <a:off x="1190625" y="2410195"/>
            <a:ext cx="26328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300"/>
              <a:buFont typeface="Inter"/>
              <a:buNone/>
            </a:pPr>
            <a:r>
              <a:rPr b="1" lang="en-US" sz="2300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4 875 </a:t>
            </a:r>
            <a:r>
              <a:rPr b="1" i="0" lang="en-US" sz="230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₸</a:t>
            </a:r>
            <a:endParaRPr b="0" i="0" sz="2300" u="none" cap="none" strike="noStrike"/>
          </a:p>
        </p:txBody>
      </p:sp>
      <p:sp>
        <p:nvSpPr>
          <p:cNvPr id="247" name="Google Shape;247;p20"/>
          <p:cNvSpPr/>
          <p:nvPr/>
        </p:nvSpPr>
        <p:spPr>
          <a:xfrm>
            <a:off x="1885578" y="2810170"/>
            <a:ext cx="12429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Contribution</a:t>
            </a:r>
            <a:endParaRPr b="0" i="0" sz="950" u="none" cap="none" strike="noStrike"/>
          </a:p>
        </p:txBody>
      </p:sp>
      <p:sp>
        <p:nvSpPr>
          <p:cNvPr id="248" name="Google Shape;248;p20"/>
          <p:cNvSpPr/>
          <p:nvPr/>
        </p:nvSpPr>
        <p:spPr>
          <a:xfrm>
            <a:off x="481831" y="3003647"/>
            <a:ext cx="4050300" cy="1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850"/>
              <a:buFont typeface="Inter Tight"/>
              <a:buNone/>
            </a:pPr>
            <a:r>
              <a:rPr b="0" i="0" lang="en-US" sz="8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ARPU × margin — реальный вклад каждого клиента в покрытие OPEX</a:t>
            </a:r>
            <a:endParaRPr b="0" i="0" sz="850" u="none" cap="none" strike="noStrike"/>
          </a:p>
        </p:txBody>
      </p:sp>
      <p:sp>
        <p:nvSpPr>
          <p:cNvPr id="249" name="Google Shape;249;p20"/>
          <p:cNvSpPr/>
          <p:nvPr/>
        </p:nvSpPr>
        <p:spPr>
          <a:xfrm>
            <a:off x="5320531" y="2410195"/>
            <a:ext cx="26328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300"/>
              <a:buFont typeface="Inter"/>
              <a:buNone/>
            </a:pPr>
            <a:r>
              <a:rPr b="1" i="0" lang="en-US" sz="230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8 000 ₸</a:t>
            </a:r>
            <a:endParaRPr b="0" i="0" sz="2300" u="none" cap="none" strike="noStrike"/>
          </a:p>
        </p:txBody>
      </p:sp>
      <p:sp>
        <p:nvSpPr>
          <p:cNvPr id="250" name="Google Shape;250;p20"/>
          <p:cNvSpPr/>
          <p:nvPr/>
        </p:nvSpPr>
        <p:spPr>
          <a:xfrm>
            <a:off x="6015484" y="2810170"/>
            <a:ext cx="12429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CAC</a:t>
            </a:r>
            <a:endParaRPr b="0" i="0" sz="950" u="none" cap="none" strike="noStrike"/>
          </a:p>
        </p:txBody>
      </p:sp>
      <p:sp>
        <p:nvSpPr>
          <p:cNvPr id="251" name="Google Shape;251;p20"/>
          <p:cNvSpPr/>
          <p:nvPr/>
        </p:nvSpPr>
        <p:spPr>
          <a:xfrm>
            <a:off x="4611737" y="3003647"/>
            <a:ext cx="40503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850"/>
              <a:buFont typeface="Inter Tight"/>
              <a:buNone/>
            </a:pPr>
            <a:r>
              <a:rPr b="0" i="0" lang="en-US" sz="8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Стоимость привлечения одного платящего клиента через digital-каналы и партнёрства</a:t>
            </a:r>
            <a:endParaRPr b="0" i="0" sz="850" u="none" cap="none" strike="noStrike"/>
          </a:p>
        </p:txBody>
      </p:sp>
      <p:sp>
        <p:nvSpPr>
          <p:cNvPr id="252" name="Google Shape;252;p20"/>
          <p:cNvSpPr/>
          <p:nvPr/>
        </p:nvSpPr>
        <p:spPr>
          <a:xfrm>
            <a:off x="1190625" y="3406004"/>
            <a:ext cx="26328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300"/>
              <a:buFont typeface="Inter"/>
              <a:buNone/>
            </a:pPr>
            <a:r>
              <a:rPr b="1" i="0" lang="en-US" sz="230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r>
              <a:rPr b="1" lang="en-US" sz="2300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62</a:t>
            </a:r>
            <a:r>
              <a:rPr b="1" i="0" lang="en-US" sz="230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 000 ₸</a:t>
            </a:r>
            <a:endParaRPr b="0" i="0" sz="2300" u="none" cap="none" strike="noStrike"/>
          </a:p>
        </p:txBody>
      </p:sp>
      <p:sp>
        <p:nvSpPr>
          <p:cNvPr id="253" name="Google Shape;253;p20"/>
          <p:cNvSpPr/>
          <p:nvPr/>
        </p:nvSpPr>
        <p:spPr>
          <a:xfrm>
            <a:off x="1885578" y="3805979"/>
            <a:ext cx="12429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LTV</a:t>
            </a:r>
            <a:endParaRPr b="0" i="0" sz="950" u="none" cap="none" strike="noStrike"/>
          </a:p>
        </p:txBody>
      </p:sp>
      <p:sp>
        <p:nvSpPr>
          <p:cNvPr id="254" name="Google Shape;254;p20"/>
          <p:cNvSpPr/>
          <p:nvPr/>
        </p:nvSpPr>
        <p:spPr>
          <a:xfrm>
            <a:off x="481831" y="3999456"/>
            <a:ext cx="4050300" cy="1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850"/>
              <a:buFont typeface="Inter Tight"/>
              <a:buNone/>
            </a:pPr>
            <a:r>
              <a:rPr b="0" i="0" lang="en-US" sz="8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Lifetime value при churn 3%/мес — 33 месяца средний срок жизни клиента</a:t>
            </a:r>
            <a:endParaRPr b="0" i="0" sz="850" u="none" cap="none" strike="noStrike"/>
          </a:p>
        </p:txBody>
      </p:sp>
      <p:sp>
        <p:nvSpPr>
          <p:cNvPr id="255" name="Google Shape;255;p20"/>
          <p:cNvSpPr/>
          <p:nvPr/>
        </p:nvSpPr>
        <p:spPr>
          <a:xfrm>
            <a:off x="5320531" y="3406004"/>
            <a:ext cx="26328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2300"/>
              <a:buFont typeface="Inter"/>
              <a:buNone/>
            </a:pPr>
            <a:r>
              <a:rPr b="1" i="0" lang="en-US" sz="230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×</a:t>
            </a:r>
            <a:r>
              <a:rPr b="1" lang="en-US" sz="2300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8-12</a:t>
            </a:r>
            <a:endParaRPr b="0" i="0" sz="2300" u="none" cap="none" strike="noStrike"/>
          </a:p>
        </p:txBody>
      </p:sp>
      <p:sp>
        <p:nvSpPr>
          <p:cNvPr id="256" name="Google Shape;256;p20"/>
          <p:cNvSpPr/>
          <p:nvPr/>
        </p:nvSpPr>
        <p:spPr>
          <a:xfrm>
            <a:off x="6015484" y="3805979"/>
            <a:ext cx="12429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LTV / CAC</a:t>
            </a:r>
            <a:endParaRPr b="0" i="0" sz="950" u="none" cap="none" strike="noStrike"/>
          </a:p>
        </p:txBody>
      </p:sp>
      <p:sp>
        <p:nvSpPr>
          <p:cNvPr id="257" name="Google Shape;257;p20"/>
          <p:cNvSpPr/>
          <p:nvPr/>
        </p:nvSpPr>
        <p:spPr>
          <a:xfrm>
            <a:off x="4611737" y="3999456"/>
            <a:ext cx="40503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850"/>
              <a:buFont typeface="Inter Tight"/>
              <a:buNone/>
            </a:pPr>
            <a:r>
              <a:rPr b="0" i="0" lang="en-US" sz="8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Значительно выше SaaS-нормы ×3–5 — подтверждает эффективность привлечения</a:t>
            </a:r>
            <a:endParaRPr b="0" i="0" sz="850" u="none" cap="none" strike="noStrike"/>
          </a:p>
        </p:txBody>
      </p:sp>
      <p:sp>
        <p:nvSpPr>
          <p:cNvPr id="258" name="Google Shape;258;p20"/>
          <p:cNvSpPr/>
          <p:nvPr/>
        </p:nvSpPr>
        <p:spPr>
          <a:xfrm>
            <a:off x="481831" y="4290192"/>
            <a:ext cx="8180400" cy="423900"/>
          </a:xfrm>
          <a:prstGeom prst="roundRect">
            <a:avLst>
              <a:gd fmla="val 39589" name="adj"/>
            </a:avLst>
          </a:prstGeom>
          <a:solidFill>
            <a:srgbClr val="183A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9" name="Google Shape;25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675" y="4429941"/>
            <a:ext cx="139824" cy="111844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0"/>
          <p:cNvSpPr/>
          <p:nvPr/>
        </p:nvSpPr>
        <p:spPr>
          <a:xfrm>
            <a:off x="845344" y="4381721"/>
            <a:ext cx="77049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Inter Tight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Точка безубыточности: ~</a:t>
            </a:r>
            <a:r>
              <a:rPr b="1" lang="en-US" sz="950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513 </a:t>
            </a:r>
            <a:r>
              <a:rPr b="1" i="0" lang="en-US" sz="95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платящих пользователей</a:t>
            </a:r>
            <a:r>
              <a:rPr b="0" i="0" lang="en-US" sz="95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 при OPEX ~2,5 млн ₸/мес и contribution margin </a:t>
            </a:r>
            <a:r>
              <a:rPr lang="en-US" sz="950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4 875</a:t>
            </a:r>
            <a:r>
              <a:rPr b="0" i="0" lang="en-US" sz="95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 ₸ на клиента. Достигается при базовом темпе роста уже на M12–M14.</a:t>
            </a:r>
            <a:endParaRPr b="0" i="0" sz="95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1"/>
          <p:cNvSpPr/>
          <p:nvPr/>
        </p:nvSpPr>
        <p:spPr>
          <a:xfrm>
            <a:off x="550664" y="605656"/>
            <a:ext cx="8042672" cy="710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F0FCFF"/>
                </a:solidFill>
                <a:latin typeface="Inter"/>
                <a:ea typeface="Inter"/>
                <a:cs typeface="Inter"/>
                <a:sym typeface="Inter"/>
              </a:rPr>
              <a:t>Finvy — операционный слой поверх банков и бухгалтерии</a:t>
            </a:r>
            <a:endParaRPr b="0" i="0" sz="2200" u="none" cap="none" strike="noStrike"/>
          </a:p>
        </p:txBody>
      </p:sp>
      <p:sp>
        <p:nvSpPr>
          <p:cNvPr id="267" name="Google Shape;267;p21"/>
          <p:cNvSpPr/>
          <p:nvPr/>
        </p:nvSpPr>
        <p:spPr>
          <a:xfrm>
            <a:off x="550664" y="1482030"/>
            <a:ext cx="8042672" cy="4944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50"/>
              <a:buFont typeface="Inter Tight"/>
              <a:buNone/>
            </a:pPr>
            <a:r>
              <a:rPr b="0" i="0" lang="en-US" sz="12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Finvy не заменяет банки и не конкурирует с бухгалтерскими системами. Продукт даёт владельцу бизнеса ежедневное решение: что происходит с деньгами прямо сейчас и что делать дальше — в отличие от инструментов, требующих ручного ввода или работающих постфактум.</a:t>
            </a:r>
            <a:endParaRPr b="0" i="0" sz="1250" u="none" cap="none" strike="noStrike"/>
          </a:p>
        </p:txBody>
      </p:sp>
      <p:sp>
        <p:nvSpPr>
          <p:cNvPr id="268" name="Google Shape;268;p21"/>
          <p:cNvSpPr/>
          <p:nvPr/>
        </p:nvSpPr>
        <p:spPr>
          <a:xfrm>
            <a:off x="550664" y="2197826"/>
            <a:ext cx="8042700" cy="1857000"/>
          </a:xfrm>
          <a:prstGeom prst="roundRect">
            <a:avLst>
              <a:gd fmla="val 10327" name="adj"/>
            </a:avLst>
          </a:prstGeom>
          <a:noFill/>
          <a:ln cap="flat" cmpd="sng" w="9525">
            <a:solidFill>
              <a:srgbClr val="FFFFFF">
                <a:alpha val="2392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1"/>
          <p:cNvSpPr/>
          <p:nvPr/>
        </p:nvSpPr>
        <p:spPr>
          <a:xfrm>
            <a:off x="683419" y="2257208"/>
            <a:ext cx="21519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None/>
            </a:pPr>
            <a:r>
              <a:rPr b="1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Критерий</a:t>
            </a:r>
            <a:endParaRPr b="0" i="0" sz="1000" u="none" cap="none" strike="noStrike"/>
          </a:p>
        </p:txBody>
      </p:sp>
      <p:sp>
        <p:nvSpPr>
          <p:cNvPr id="270" name="Google Shape;270;p21"/>
          <p:cNvSpPr/>
          <p:nvPr/>
        </p:nvSpPr>
        <p:spPr>
          <a:xfrm>
            <a:off x="3095699" y="2257208"/>
            <a:ext cx="8643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None/>
            </a:pPr>
            <a:r>
              <a:rPr b="1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Excel</a:t>
            </a:r>
            <a:endParaRPr b="0" i="0" sz="1000" u="none" cap="none" strike="noStrike"/>
          </a:p>
        </p:txBody>
      </p:sp>
      <p:sp>
        <p:nvSpPr>
          <p:cNvPr id="271" name="Google Shape;271;p21"/>
          <p:cNvSpPr/>
          <p:nvPr/>
        </p:nvSpPr>
        <p:spPr>
          <a:xfrm>
            <a:off x="4220319" y="2257208"/>
            <a:ext cx="8643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None/>
            </a:pPr>
            <a:r>
              <a:rPr b="1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1C / Бух.</a:t>
            </a:r>
            <a:endParaRPr b="0" i="0" sz="1000" u="none" cap="none" strike="noStrike"/>
          </a:p>
        </p:txBody>
      </p:sp>
      <p:sp>
        <p:nvSpPr>
          <p:cNvPr id="272" name="Google Shape;272;p21"/>
          <p:cNvSpPr/>
          <p:nvPr/>
        </p:nvSpPr>
        <p:spPr>
          <a:xfrm>
            <a:off x="5344939" y="2257208"/>
            <a:ext cx="8643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None/>
            </a:pPr>
            <a:r>
              <a:rPr b="1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Банки</a:t>
            </a:r>
            <a:endParaRPr b="0" i="0" sz="1000" u="none" cap="none" strike="noStrike"/>
          </a:p>
        </p:txBody>
      </p:sp>
      <p:sp>
        <p:nvSpPr>
          <p:cNvPr id="273" name="Google Shape;273;p21"/>
          <p:cNvSpPr/>
          <p:nvPr/>
        </p:nvSpPr>
        <p:spPr>
          <a:xfrm>
            <a:off x="6469559" y="2257208"/>
            <a:ext cx="8643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None/>
            </a:pPr>
            <a:r>
              <a:rPr b="1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Expense Apps</a:t>
            </a:r>
            <a:endParaRPr b="0" i="0" sz="1000" u="none" cap="none" strike="noStrike"/>
          </a:p>
        </p:txBody>
      </p:sp>
      <p:sp>
        <p:nvSpPr>
          <p:cNvPr id="274" name="Google Shape;274;p21"/>
          <p:cNvSpPr/>
          <p:nvPr/>
        </p:nvSpPr>
        <p:spPr>
          <a:xfrm>
            <a:off x="7594178" y="2257208"/>
            <a:ext cx="8667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None/>
            </a:pPr>
            <a:r>
              <a:rPr b="1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Finvy</a:t>
            </a:r>
            <a:endParaRPr b="0" i="0" sz="1000" u="none" cap="none" strike="noStrike"/>
          </a:p>
        </p:txBody>
      </p:sp>
      <p:sp>
        <p:nvSpPr>
          <p:cNvPr id="275" name="Google Shape;275;p21"/>
          <p:cNvSpPr/>
          <p:nvPr/>
        </p:nvSpPr>
        <p:spPr>
          <a:xfrm>
            <a:off x="683419" y="2502998"/>
            <a:ext cx="21519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None/>
            </a:pPr>
            <a:r>
              <a:rPr b="0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Единое окно по всем счетам</a:t>
            </a:r>
            <a:endParaRPr b="0" i="0" sz="1000" u="none" cap="none" strike="noStrike"/>
          </a:p>
        </p:txBody>
      </p:sp>
      <p:sp>
        <p:nvSpPr>
          <p:cNvPr id="276" name="Google Shape;276;p21"/>
          <p:cNvSpPr/>
          <p:nvPr/>
        </p:nvSpPr>
        <p:spPr>
          <a:xfrm>
            <a:off x="3095699" y="2502998"/>
            <a:ext cx="8643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None/>
            </a:pPr>
            <a:r>
              <a:rPr b="0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—</a:t>
            </a:r>
            <a:endParaRPr b="0" i="0" sz="1000" u="none" cap="none" strike="noStrike"/>
          </a:p>
        </p:txBody>
      </p:sp>
      <p:sp>
        <p:nvSpPr>
          <p:cNvPr id="277" name="Google Shape;277;p21"/>
          <p:cNvSpPr/>
          <p:nvPr/>
        </p:nvSpPr>
        <p:spPr>
          <a:xfrm>
            <a:off x="4220319" y="2502998"/>
            <a:ext cx="8643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None/>
            </a:pPr>
            <a:r>
              <a:rPr b="0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—</a:t>
            </a:r>
            <a:endParaRPr b="0" i="0" sz="1000" u="none" cap="none" strike="noStrike"/>
          </a:p>
        </p:txBody>
      </p:sp>
      <p:sp>
        <p:nvSpPr>
          <p:cNvPr id="278" name="Google Shape;278;p21"/>
          <p:cNvSpPr/>
          <p:nvPr/>
        </p:nvSpPr>
        <p:spPr>
          <a:xfrm>
            <a:off x="5344939" y="2502998"/>
            <a:ext cx="8643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None/>
            </a:pPr>
            <a:r>
              <a:rPr b="0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частично</a:t>
            </a:r>
            <a:endParaRPr b="0" i="0" sz="1000" u="none" cap="none" strike="noStrike"/>
          </a:p>
        </p:txBody>
      </p:sp>
      <p:sp>
        <p:nvSpPr>
          <p:cNvPr id="279" name="Google Shape;279;p21"/>
          <p:cNvSpPr/>
          <p:nvPr/>
        </p:nvSpPr>
        <p:spPr>
          <a:xfrm>
            <a:off x="6469559" y="2502998"/>
            <a:ext cx="8643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None/>
            </a:pPr>
            <a:r>
              <a:rPr b="0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частично</a:t>
            </a:r>
            <a:endParaRPr b="0" i="0" sz="1000" u="none" cap="none" strike="noStrike"/>
          </a:p>
        </p:txBody>
      </p:sp>
      <p:sp>
        <p:nvSpPr>
          <p:cNvPr id="280" name="Google Shape;280;p21"/>
          <p:cNvSpPr/>
          <p:nvPr/>
        </p:nvSpPr>
        <p:spPr>
          <a:xfrm>
            <a:off x="7594178" y="2502998"/>
            <a:ext cx="8667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4DF0"/>
              </a:buClr>
              <a:buSzPts val="1000"/>
              <a:buFont typeface="Inter Tight"/>
              <a:buNone/>
            </a:pPr>
            <a:r>
              <a:rPr b="1" i="0" lang="en-US" sz="1000" u="none" cap="none" strike="noStrike">
                <a:solidFill>
                  <a:srgbClr val="124DF0"/>
                </a:solidFill>
                <a:latin typeface="Inter Tight"/>
                <a:ea typeface="Inter Tight"/>
                <a:cs typeface="Inter Tight"/>
                <a:sym typeface="Inter Tight"/>
              </a:rPr>
              <a:t>✓</a:t>
            </a:r>
            <a:endParaRPr b="0" i="0" sz="1000" u="none" cap="none" strike="noStrike"/>
          </a:p>
        </p:txBody>
      </p:sp>
      <p:sp>
        <p:nvSpPr>
          <p:cNvPr id="281" name="Google Shape;281;p21"/>
          <p:cNvSpPr/>
          <p:nvPr/>
        </p:nvSpPr>
        <p:spPr>
          <a:xfrm>
            <a:off x="683419" y="2748788"/>
            <a:ext cx="21519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None/>
            </a:pPr>
            <a:r>
              <a:rPr b="0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P&amp;L и cash flow ежедневно</a:t>
            </a:r>
            <a:endParaRPr b="0" i="0" sz="1000" u="none" cap="none" strike="noStrike"/>
          </a:p>
        </p:txBody>
      </p:sp>
      <p:sp>
        <p:nvSpPr>
          <p:cNvPr id="282" name="Google Shape;282;p21"/>
          <p:cNvSpPr/>
          <p:nvPr/>
        </p:nvSpPr>
        <p:spPr>
          <a:xfrm>
            <a:off x="3095699" y="2748788"/>
            <a:ext cx="8643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None/>
            </a:pPr>
            <a:r>
              <a:rPr b="0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—</a:t>
            </a:r>
            <a:endParaRPr b="0" i="0" sz="1000" u="none" cap="none" strike="noStrike"/>
          </a:p>
        </p:txBody>
      </p:sp>
      <p:sp>
        <p:nvSpPr>
          <p:cNvPr id="283" name="Google Shape;283;p21"/>
          <p:cNvSpPr/>
          <p:nvPr/>
        </p:nvSpPr>
        <p:spPr>
          <a:xfrm>
            <a:off x="4220319" y="2748788"/>
            <a:ext cx="8643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None/>
            </a:pPr>
            <a:r>
              <a:rPr b="0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частично</a:t>
            </a:r>
            <a:endParaRPr b="0" i="0" sz="1000" u="none" cap="none" strike="noStrike"/>
          </a:p>
        </p:txBody>
      </p:sp>
      <p:sp>
        <p:nvSpPr>
          <p:cNvPr id="284" name="Google Shape;284;p21"/>
          <p:cNvSpPr/>
          <p:nvPr/>
        </p:nvSpPr>
        <p:spPr>
          <a:xfrm>
            <a:off x="5344939" y="2748788"/>
            <a:ext cx="8643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None/>
            </a:pPr>
            <a:r>
              <a:rPr b="0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—</a:t>
            </a:r>
            <a:endParaRPr b="0" i="0" sz="1000" u="none" cap="none" strike="noStrike"/>
          </a:p>
        </p:txBody>
      </p:sp>
      <p:sp>
        <p:nvSpPr>
          <p:cNvPr id="285" name="Google Shape;285;p21"/>
          <p:cNvSpPr/>
          <p:nvPr/>
        </p:nvSpPr>
        <p:spPr>
          <a:xfrm>
            <a:off x="6469559" y="2748788"/>
            <a:ext cx="8643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None/>
            </a:pPr>
            <a:r>
              <a:rPr b="0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частично</a:t>
            </a:r>
            <a:endParaRPr b="0" i="0" sz="1000" u="none" cap="none" strike="noStrike"/>
          </a:p>
        </p:txBody>
      </p:sp>
      <p:sp>
        <p:nvSpPr>
          <p:cNvPr id="286" name="Google Shape;286;p21"/>
          <p:cNvSpPr/>
          <p:nvPr/>
        </p:nvSpPr>
        <p:spPr>
          <a:xfrm>
            <a:off x="7594178" y="2748788"/>
            <a:ext cx="8667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4DF0"/>
              </a:buClr>
              <a:buSzPts val="1000"/>
              <a:buFont typeface="Inter Tight"/>
              <a:buNone/>
            </a:pPr>
            <a:r>
              <a:rPr b="1" i="0" lang="en-US" sz="1000" u="none" cap="none" strike="noStrike">
                <a:solidFill>
                  <a:srgbClr val="124DF0"/>
                </a:solidFill>
                <a:latin typeface="Inter Tight"/>
                <a:ea typeface="Inter Tight"/>
                <a:cs typeface="Inter Tight"/>
                <a:sym typeface="Inter Tight"/>
              </a:rPr>
              <a:t>✓</a:t>
            </a:r>
            <a:endParaRPr b="0" i="0" sz="1000" u="none" cap="none" strike="noStrike"/>
          </a:p>
        </p:txBody>
      </p:sp>
      <p:sp>
        <p:nvSpPr>
          <p:cNvPr id="287" name="Google Shape;287;p21"/>
          <p:cNvSpPr/>
          <p:nvPr/>
        </p:nvSpPr>
        <p:spPr>
          <a:xfrm>
            <a:off x="683419" y="2994577"/>
            <a:ext cx="21519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None/>
            </a:pPr>
            <a:r>
              <a:rPr b="0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AI-инсайты по операциям</a:t>
            </a:r>
            <a:endParaRPr b="0" i="0" sz="1000" u="none" cap="none" strike="noStrike"/>
          </a:p>
        </p:txBody>
      </p:sp>
      <p:sp>
        <p:nvSpPr>
          <p:cNvPr id="288" name="Google Shape;288;p21"/>
          <p:cNvSpPr/>
          <p:nvPr/>
        </p:nvSpPr>
        <p:spPr>
          <a:xfrm>
            <a:off x="3095699" y="2994577"/>
            <a:ext cx="8643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None/>
            </a:pPr>
            <a:r>
              <a:rPr b="0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—</a:t>
            </a:r>
            <a:endParaRPr b="0" i="0" sz="1000" u="none" cap="none" strike="noStrike"/>
          </a:p>
        </p:txBody>
      </p:sp>
      <p:sp>
        <p:nvSpPr>
          <p:cNvPr id="289" name="Google Shape;289;p21"/>
          <p:cNvSpPr/>
          <p:nvPr/>
        </p:nvSpPr>
        <p:spPr>
          <a:xfrm>
            <a:off x="4220319" y="2994577"/>
            <a:ext cx="8643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None/>
            </a:pPr>
            <a:r>
              <a:rPr b="0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—</a:t>
            </a:r>
            <a:endParaRPr b="0" i="0" sz="1000" u="none" cap="none" strike="noStrike"/>
          </a:p>
        </p:txBody>
      </p:sp>
      <p:sp>
        <p:nvSpPr>
          <p:cNvPr id="290" name="Google Shape;290;p21"/>
          <p:cNvSpPr/>
          <p:nvPr/>
        </p:nvSpPr>
        <p:spPr>
          <a:xfrm>
            <a:off x="5344939" y="2994577"/>
            <a:ext cx="8643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None/>
            </a:pPr>
            <a:r>
              <a:rPr b="0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—</a:t>
            </a:r>
            <a:endParaRPr b="0" i="0" sz="1000" u="none" cap="none" strike="noStrike"/>
          </a:p>
        </p:txBody>
      </p:sp>
      <p:sp>
        <p:nvSpPr>
          <p:cNvPr id="291" name="Google Shape;291;p21"/>
          <p:cNvSpPr/>
          <p:nvPr/>
        </p:nvSpPr>
        <p:spPr>
          <a:xfrm>
            <a:off x="6469559" y="2994577"/>
            <a:ext cx="8643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None/>
            </a:pPr>
            <a:r>
              <a:rPr b="0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частично</a:t>
            </a:r>
            <a:endParaRPr b="0" i="0" sz="1000" u="none" cap="none" strike="noStrike"/>
          </a:p>
        </p:txBody>
      </p:sp>
      <p:sp>
        <p:nvSpPr>
          <p:cNvPr id="292" name="Google Shape;292;p21"/>
          <p:cNvSpPr/>
          <p:nvPr/>
        </p:nvSpPr>
        <p:spPr>
          <a:xfrm>
            <a:off x="7594178" y="2994577"/>
            <a:ext cx="8667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4DF0"/>
              </a:buClr>
              <a:buSzPts val="1000"/>
              <a:buFont typeface="Inter Tight"/>
              <a:buNone/>
            </a:pPr>
            <a:r>
              <a:rPr b="1" i="0" lang="en-US" sz="1000" u="none" cap="none" strike="noStrike">
                <a:solidFill>
                  <a:srgbClr val="124DF0"/>
                </a:solidFill>
                <a:latin typeface="Inter Tight"/>
                <a:ea typeface="Inter Tight"/>
                <a:cs typeface="Inter Tight"/>
                <a:sym typeface="Inter Tight"/>
              </a:rPr>
              <a:t>✓</a:t>
            </a:r>
            <a:endParaRPr b="0" i="0" sz="1000" u="none" cap="none" strike="noStrike"/>
          </a:p>
        </p:txBody>
      </p:sp>
      <p:sp>
        <p:nvSpPr>
          <p:cNvPr id="293" name="Google Shape;293;p21"/>
          <p:cNvSpPr/>
          <p:nvPr/>
        </p:nvSpPr>
        <p:spPr>
          <a:xfrm>
            <a:off x="683419" y="3240367"/>
            <a:ext cx="21519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None/>
            </a:pPr>
            <a:r>
              <a:rPr b="0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Налоговый календарь и напоминания</a:t>
            </a:r>
            <a:endParaRPr b="0" i="0" sz="1000" u="none" cap="none" strike="noStrike"/>
          </a:p>
        </p:txBody>
      </p:sp>
      <p:sp>
        <p:nvSpPr>
          <p:cNvPr id="294" name="Google Shape;294;p21"/>
          <p:cNvSpPr/>
          <p:nvPr/>
        </p:nvSpPr>
        <p:spPr>
          <a:xfrm>
            <a:off x="3095699" y="3240367"/>
            <a:ext cx="8643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None/>
            </a:pPr>
            <a:r>
              <a:rPr b="0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—</a:t>
            </a:r>
            <a:endParaRPr b="0" i="0" sz="1000" u="none" cap="none" strike="noStrike"/>
          </a:p>
        </p:txBody>
      </p:sp>
      <p:sp>
        <p:nvSpPr>
          <p:cNvPr id="295" name="Google Shape;295;p21"/>
          <p:cNvSpPr/>
          <p:nvPr/>
        </p:nvSpPr>
        <p:spPr>
          <a:xfrm>
            <a:off x="4220319" y="3240367"/>
            <a:ext cx="8643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None/>
            </a:pPr>
            <a:r>
              <a:rPr b="0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частично</a:t>
            </a:r>
            <a:endParaRPr b="0" i="0" sz="1000" u="none" cap="none" strike="noStrike"/>
          </a:p>
        </p:txBody>
      </p:sp>
      <p:sp>
        <p:nvSpPr>
          <p:cNvPr id="296" name="Google Shape;296;p21"/>
          <p:cNvSpPr/>
          <p:nvPr/>
        </p:nvSpPr>
        <p:spPr>
          <a:xfrm>
            <a:off x="5344939" y="3240367"/>
            <a:ext cx="8643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None/>
            </a:pPr>
            <a:r>
              <a:rPr b="0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—</a:t>
            </a:r>
            <a:endParaRPr b="0" i="0" sz="1000" u="none" cap="none" strike="noStrike"/>
          </a:p>
        </p:txBody>
      </p:sp>
      <p:sp>
        <p:nvSpPr>
          <p:cNvPr id="297" name="Google Shape;297;p21"/>
          <p:cNvSpPr/>
          <p:nvPr/>
        </p:nvSpPr>
        <p:spPr>
          <a:xfrm>
            <a:off x="6469559" y="3240367"/>
            <a:ext cx="8643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None/>
            </a:pPr>
            <a:r>
              <a:rPr b="0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—</a:t>
            </a:r>
            <a:endParaRPr b="0" i="0" sz="1000" u="none" cap="none" strike="noStrike"/>
          </a:p>
        </p:txBody>
      </p:sp>
      <p:sp>
        <p:nvSpPr>
          <p:cNvPr id="298" name="Google Shape;298;p21"/>
          <p:cNvSpPr/>
          <p:nvPr/>
        </p:nvSpPr>
        <p:spPr>
          <a:xfrm>
            <a:off x="7594178" y="3240367"/>
            <a:ext cx="8667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4DF0"/>
              </a:buClr>
              <a:buSzPts val="1000"/>
              <a:buFont typeface="Inter Tight"/>
              <a:buNone/>
            </a:pPr>
            <a:r>
              <a:rPr b="1" i="0" lang="en-US" sz="1000" u="none" cap="none" strike="noStrike">
                <a:solidFill>
                  <a:srgbClr val="124DF0"/>
                </a:solidFill>
                <a:latin typeface="Inter Tight"/>
                <a:ea typeface="Inter Tight"/>
                <a:cs typeface="Inter Tight"/>
                <a:sym typeface="Inter Tight"/>
              </a:rPr>
              <a:t>✓</a:t>
            </a:r>
            <a:endParaRPr b="0" i="0" sz="1000" u="none" cap="none" strike="noStrike"/>
          </a:p>
        </p:txBody>
      </p:sp>
      <p:sp>
        <p:nvSpPr>
          <p:cNvPr id="299" name="Google Shape;299;p21"/>
          <p:cNvSpPr/>
          <p:nvPr/>
        </p:nvSpPr>
        <p:spPr>
          <a:xfrm>
            <a:off x="683419" y="3617944"/>
            <a:ext cx="21519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None/>
            </a:pPr>
            <a:r>
              <a:rPr b="0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Безопасность данных в РК</a:t>
            </a:r>
            <a:endParaRPr b="0" i="0" sz="1000" u="none" cap="none" strike="noStrike"/>
          </a:p>
        </p:txBody>
      </p:sp>
      <p:sp>
        <p:nvSpPr>
          <p:cNvPr id="300" name="Google Shape;300;p21"/>
          <p:cNvSpPr/>
          <p:nvPr/>
        </p:nvSpPr>
        <p:spPr>
          <a:xfrm>
            <a:off x="3095699" y="3617944"/>
            <a:ext cx="8643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None/>
            </a:pPr>
            <a:r>
              <a:rPr b="0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—</a:t>
            </a:r>
            <a:endParaRPr b="0" i="0" sz="1000" u="none" cap="none" strike="noStrike"/>
          </a:p>
        </p:txBody>
      </p:sp>
      <p:sp>
        <p:nvSpPr>
          <p:cNvPr id="301" name="Google Shape;301;p21"/>
          <p:cNvSpPr/>
          <p:nvPr/>
        </p:nvSpPr>
        <p:spPr>
          <a:xfrm>
            <a:off x="4220319" y="3617944"/>
            <a:ext cx="8643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None/>
            </a:pPr>
            <a:r>
              <a:rPr b="0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частично</a:t>
            </a:r>
            <a:endParaRPr b="0" i="0" sz="1000" u="none" cap="none" strike="noStrike"/>
          </a:p>
        </p:txBody>
      </p:sp>
      <p:sp>
        <p:nvSpPr>
          <p:cNvPr id="302" name="Google Shape;302;p21"/>
          <p:cNvSpPr/>
          <p:nvPr/>
        </p:nvSpPr>
        <p:spPr>
          <a:xfrm>
            <a:off x="5344939" y="3617944"/>
            <a:ext cx="8643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None/>
            </a:pPr>
            <a:r>
              <a:rPr b="0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✓</a:t>
            </a:r>
            <a:endParaRPr b="0" i="0" sz="1000" u="none" cap="none" strike="noStrike"/>
          </a:p>
        </p:txBody>
      </p:sp>
      <p:sp>
        <p:nvSpPr>
          <p:cNvPr id="303" name="Google Shape;303;p21"/>
          <p:cNvSpPr/>
          <p:nvPr/>
        </p:nvSpPr>
        <p:spPr>
          <a:xfrm>
            <a:off x="6469559" y="3617944"/>
            <a:ext cx="8643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None/>
            </a:pPr>
            <a:r>
              <a:rPr b="0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—</a:t>
            </a:r>
            <a:endParaRPr b="0" i="0" sz="1000" u="none" cap="none" strike="noStrike"/>
          </a:p>
        </p:txBody>
      </p:sp>
      <p:sp>
        <p:nvSpPr>
          <p:cNvPr id="304" name="Google Shape;304;p21"/>
          <p:cNvSpPr/>
          <p:nvPr/>
        </p:nvSpPr>
        <p:spPr>
          <a:xfrm>
            <a:off x="7594178" y="3617944"/>
            <a:ext cx="8667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4DF0"/>
              </a:buClr>
              <a:buSzPts val="1000"/>
              <a:buFont typeface="Inter Tight"/>
              <a:buNone/>
            </a:pPr>
            <a:r>
              <a:rPr b="1" i="0" lang="en-US" sz="1000" u="none" cap="none" strike="noStrike">
                <a:solidFill>
                  <a:srgbClr val="124DF0"/>
                </a:solidFill>
                <a:latin typeface="Inter Tight"/>
                <a:ea typeface="Inter Tight"/>
                <a:cs typeface="Inter Tight"/>
                <a:sym typeface="Inter Tight"/>
              </a:rPr>
              <a:t>✓</a:t>
            </a:r>
            <a:endParaRPr b="0" i="0" sz="1000" u="none" cap="none" strike="noStrike"/>
          </a:p>
        </p:txBody>
      </p:sp>
      <p:sp>
        <p:nvSpPr>
          <p:cNvPr id="305" name="Google Shape;305;p21"/>
          <p:cNvSpPr/>
          <p:nvPr/>
        </p:nvSpPr>
        <p:spPr>
          <a:xfrm>
            <a:off x="683419" y="3863734"/>
            <a:ext cx="21519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None/>
            </a:pPr>
            <a:r>
              <a:rPr b="0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Без ручного ввода данных</a:t>
            </a:r>
            <a:endParaRPr b="0" i="0" sz="1000" u="none" cap="none" strike="noStrike"/>
          </a:p>
        </p:txBody>
      </p:sp>
      <p:sp>
        <p:nvSpPr>
          <p:cNvPr id="306" name="Google Shape;306;p21"/>
          <p:cNvSpPr/>
          <p:nvPr/>
        </p:nvSpPr>
        <p:spPr>
          <a:xfrm>
            <a:off x="3095699" y="3863734"/>
            <a:ext cx="8643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None/>
            </a:pPr>
            <a:r>
              <a:rPr b="0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—</a:t>
            </a:r>
            <a:endParaRPr b="0" i="0" sz="1000" u="none" cap="none" strike="noStrike"/>
          </a:p>
        </p:txBody>
      </p:sp>
      <p:sp>
        <p:nvSpPr>
          <p:cNvPr id="307" name="Google Shape;307;p21"/>
          <p:cNvSpPr/>
          <p:nvPr/>
        </p:nvSpPr>
        <p:spPr>
          <a:xfrm>
            <a:off x="4220319" y="3863734"/>
            <a:ext cx="8643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None/>
            </a:pPr>
            <a:r>
              <a:rPr b="0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—</a:t>
            </a:r>
            <a:endParaRPr b="0" i="0" sz="1000" u="none" cap="none" strike="noStrike"/>
          </a:p>
        </p:txBody>
      </p:sp>
      <p:sp>
        <p:nvSpPr>
          <p:cNvPr id="308" name="Google Shape;308;p21"/>
          <p:cNvSpPr/>
          <p:nvPr/>
        </p:nvSpPr>
        <p:spPr>
          <a:xfrm>
            <a:off x="5344939" y="3863734"/>
            <a:ext cx="8643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None/>
            </a:pPr>
            <a:r>
              <a:rPr b="0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✓</a:t>
            </a:r>
            <a:endParaRPr b="0" i="0" sz="1000" u="none" cap="none" strike="noStrike"/>
          </a:p>
        </p:txBody>
      </p:sp>
      <p:sp>
        <p:nvSpPr>
          <p:cNvPr id="309" name="Google Shape;309;p21"/>
          <p:cNvSpPr/>
          <p:nvPr/>
        </p:nvSpPr>
        <p:spPr>
          <a:xfrm>
            <a:off x="6469559" y="3863734"/>
            <a:ext cx="8643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None/>
            </a:pPr>
            <a:r>
              <a:rPr b="0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частично</a:t>
            </a:r>
            <a:endParaRPr b="0" i="0" sz="1000" u="none" cap="none" strike="noStrike"/>
          </a:p>
        </p:txBody>
      </p:sp>
      <p:sp>
        <p:nvSpPr>
          <p:cNvPr id="310" name="Google Shape;310;p21"/>
          <p:cNvSpPr/>
          <p:nvPr/>
        </p:nvSpPr>
        <p:spPr>
          <a:xfrm>
            <a:off x="7594178" y="3863734"/>
            <a:ext cx="8667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4DF0"/>
              </a:buClr>
              <a:buSzPts val="1000"/>
              <a:buFont typeface="Inter Tight"/>
              <a:buNone/>
            </a:pPr>
            <a:r>
              <a:rPr b="1" i="0" lang="en-US" sz="1000" u="none" cap="none" strike="noStrike">
                <a:solidFill>
                  <a:srgbClr val="124DF0"/>
                </a:solidFill>
                <a:latin typeface="Inter Tight"/>
                <a:ea typeface="Inter Tight"/>
                <a:cs typeface="Inter Tight"/>
                <a:sym typeface="Inter Tight"/>
              </a:rPr>
              <a:t>✓</a:t>
            </a:r>
            <a:endParaRPr b="0" i="0" sz="1000" u="none" cap="none" strike="noStrike"/>
          </a:p>
        </p:txBody>
      </p:sp>
      <p:sp>
        <p:nvSpPr>
          <p:cNvPr id="311" name="Google Shape;311;p21"/>
          <p:cNvSpPr/>
          <p:nvPr/>
        </p:nvSpPr>
        <p:spPr>
          <a:xfrm>
            <a:off x="550664" y="4148367"/>
            <a:ext cx="8042700" cy="517200"/>
          </a:xfrm>
          <a:prstGeom prst="roundRect">
            <a:avLst>
              <a:gd fmla="val 37076" name="adj"/>
            </a:avLst>
          </a:prstGeom>
          <a:solidFill>
            <a:srgbClr val="022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2" name="Google Shape;31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507" y="4308134"/>
            <a:ext cx="159767" cy="127843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1"/>
          <p:cNvSpPr/>
          <p:nvPr/>
        </p:nvSpPr>
        <p:spPr>
          <a:xfrm>
            <a:off x="966118" y="4263337"/>
            <a:ext cx="74994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 Tight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Ключевой стратегический тезис: Finvy — не конкурент банкам, а </a:t>
            </a:r>
            <a:r>
              <a:rPr b="1" i="0" lang="en-US" sz="100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надстройка над ними</a:t>
            </a:r>
            <a:r>
              <a:rPr b="0" i="0" lang="en-US" sz="100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. Это снижает барьер для партнёрств и открывает каналы через банковские экосистемы.</a:t>
            </a:r>
            <a:endParaRPr b="0" i="0" sz="100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2"/>
          <p:cNvSpPr/>
          <p:nvPr/>
        </p:nvSpPr>
        <p:spPr>
          <a:xfrm>
            <a:off x="550664" y="560487"/>
            <a:ext cx="8042672" cy="710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F0FCFF"/>
                </a:solidFill>
                <a:latin typeface="Inter"/>
                <a:ea typeface="Inter"/>
                <a:cs typeface="Inter"/>
                <a:sym typeface="Inter"/>
              </a:rPr>
              <a:t>Команда: полный штат и ключевые роли закрываются раундом</a:t>
            </a:r>
            <a:endParaRPr b="0" i="0" sz="2200" u="none" cap="none" strike="noStrike"/>
          </a:p>
        </p:txBody>
      </p:sp>
      <p:sp>
        <p:nvSpPr>
          <p:cNvPr id="320" name="Google Shape;320;p22"/>
          <p:cNvSpPr/>
          <p:nvPr/>
        </p:nvSpPr>
        <p:spPr>
          <a:xfrm>
            <a:off x="550664" y="1436861"/>
            <a:ext cx="8042672" cy="329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50"/>
              <a:buFont typeface="Inter Tight"/>
              <a:buNone/>
            </a:pPr>
            <a:r>
              <a:rPr b="0" i="0" lang="en-US" sz="125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Текущая структура: founder-led с фокусом на продукт и технологии. После закрытия раунда бюджет ФОТ покрывает найм четырёх ключевых специалистов на 18 месяцев — Backend, Product, Sales и Compliance.</a:t>
            </a:r>
            <a:endParaRPr b="0" i="0" sz="1250" u="none" cap="none" strike="noStrike"/>
          </a:p>
        </p:txBody>
      </p:sp>
      <p:pic>
        <p:nvPicPr>
          <p:cNvPr id="321" name="Google Shape;321;p22" title="photo_2025-03-16_15-42-21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3939" y="1865154"/>
            <a:ext cx="552747" cy="552747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2"/>
          <p:cNvSpPr/>
          <p:nvPr/>
        </p:nvSpPr>
        <p:spPr>
          <a:xfrm>
            <a:off x="550664" y="2516535"/>
            <a:ext cx="1420490" cy="177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Татьяна — Founder</a:t>
            </a:r>
            <a:endParaRPr b="0" i="0" sz="1100" u="none" cap="none" strike="noStrike"/>
          </a:p>
        </p:txBody>
      </p:sp>
      <p:sp>
        <p:nvSpPr>
          <p:cNvPr id="323" name="Google Shape;323;p22"/>
          <p:cNvSpPr/>
          <p:nvPr/>
        </p:nvSpPr>
        <p:spPr>
          <a:xfrm>
            <a:off x="550664" y="2743944"/>
            <a:ext cx="1932756" cy="131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None/>
            </a:pPr>
            <a:r>
              <a:rPr b="1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Product &amp; Tech Lead</a:t>
            </a:r>
            <a:endParaRPr b="0" i="0" sz="1000" u="none" cap="none" strike="noStrike"/>
          </a:p>
        </p:txBody>
      </p:sp>
      <p:sp>
        <p:nvSpPr>
          <p:cNvPr id="324" name="Google Shape;324;p22"/>
          <p:cNvSpPr/>
          <p:nvPr/>
        </p:nvSpPr>
        <p:spPr>
          <a:xfrm>
            <a:off x="550664" y="2925589"/>
            <a:ext cx="1932756" cy="5271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None/>
            </a:pPr>
            <a:r>
              <a:rPr b="0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Видение продукта, UX-архитектура, первые пилоты с клиентами. Запустила рабочий демо-продукт с 9 модулями.</a:t>
            </a:r>
            <a:endParaRPr b="0" i="0" sz="1000" u="none" cap="none" strike="noStrike"/>
          </a:p>
        </p:txBody>
      </p:sp>
      <p:pic>
        <p:nvPicPr>
          <p:cNvPr descr="preencoded.png" id="325" name="Google Shape;32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2890" y="1865154"/>
            <a:ext cx="552748" cy="552748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2"/>
          <p:cNvSpPr/>
          <p:nvPr/>
        </p:nvSpPr>
        <p:spPr>
          <a:xfrm>
            <a:off x="2587228" y="2516535"/>
            <a:ext cx="1784077" cy="177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Backend Lead — найм M1</a:t>
            </a:r>
            <a:endParaRPr b="0" i="0" sz="1100" u="none" cap="none" strike="noStrike"/>
          </a:p>
        </p:txBody>
      </p:sp>
      <p:sp>
        <p:nvSpPr>
          <p:cNvPr id="327" name="Google Shape;327;p22"/>
          <p:cNvSpPr/>
          <p:nvPr/>
        </p:nvSpPr>
        <p:spPr>
          <a:xfrm>
            <a:off x="2587228" y="2743944"/>
            <a:ext cx="1932831" cy="131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None/>
            </a:pPr>
            <a:r>
              <a:rPr b="1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DevOps / ИБ</a:t>
            </a:r>
            <a:endParaRPr b="0" i="0" sz="1000" u="none" cap="none" strike="noStrike"/>
          </a:p>
        </p:txBody>
      </p:sp>
      <p:sp>
        <p:nvSpPr>
          <p:cNvPr id="328" name="Google Shape;328;p22"/>
          <p:cNvSpPr/>
          <p:nvPr/>
        </p:nvSpPr>
        <p:spPr>
          <a:xfrm>
            <a:off x="2587228" y="2925589"/>
            <a:ext cx="1932831" cy="263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None/>
            </a:pPr>
            <a:r>
              <a:rPr b="0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Kubernetes, VPC, Keycloak, mTLS, AISP-интеграция</a:t>
            </a:r>
            <a:r>
              <a:rPr lang="en-US" sz="1000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, </a:t>
            </a:r>
            <a:r>
              <a:rPr lang="en-US" sz="1050">
                <a:solidFill>
                  <a:srgbClr val="E0E4E6"/>
                </a:solidFill>
              </a:rPr>
              <a:t>blockchain AP</a:t>
            </a:r>
            <a:r>
              <a:rPr lang="en-US" sz="1050">
                <a:solidFill>
                  <a:srgbClr val="F0FCFF"/>
                </a:solidFill>
              </a:rPr>
              <a:t>I</a:t>
            </a:r>
            <a:r>
              <a:rPr lang="en-US" sz="1100">
                <a:solidFill>
                  <a:schemeClr val="dk1"/>
                </a:solidFill>
              </a:rPr>
              <a:t> </a:t>
            </a:r>
            <a:r>
              <a:rPr b="0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.</a:t>
            </a:r>
            <a:endParaRPr b="0" i="0" sz="1000" u="none" cap="none" strike="noStrike"/>
          </a:p>
        </p:txBody>
      </p:sp>
      <p:sp>
        <p:nvSpPr>
          <p:cNvPr id="329" name="Google Shape;329;p22"/>
          <p:cNvSpPr/>
          <p:nvPr/>
        </p:nvSpPr>
        <p:spPr>
          <a:xfrm>
            <a:off x="2587228" y="3239021"/>
            <a:ext cx="1932831" cy="263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None/>
            </a:pPr>
            <a:r>
              <a:rPr b="0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Безопасность инфраструктуры и масштабирование.</a:t>
            </a:r>
            <a:endParaRPr b="0" i="0" sz="1000" u="none" cap="none" strike="noStrike"/>
          </a:p>
        </p:txBody>
      </p:sp>
      <p:pic>
        <p:nvPicPr>
          <p:cNvPr descr="preencoded.png" id="330" name="Google Shape;33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47917" y="1865154"/>
            <a:ext cx="552748" cy="552748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2"/>
          <p:cNvSpPr/>
          <p:nvPr/>
        </p:nvSpPr>
        <p:spPr>
          <a:xfrm>
            <a:off x="4623867" y="2516535"/>
            <a:ext cx="1600870" cy="177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Product Manager — M1</a:t>
            </a:r>
            <a:endParaRPr b="0" i="0" sz="1100" u="none" cap="none" strike="noStrike"/>
          </a:p>
        </p:txBody>
      </p:sp>
      <p:sp>
        <p:nvSpPr>
          <p:cNvPr id="332" name="Google Shape;332;p22"/>
          <p:cNvSpPr/>
          <p:nvPr/>
        </p:nvSpPr>
        <p:spPr>
          <a:xfrm>
            <a:off x="4623867" y="2743944"/>
            <a:ext cx="1932831" cy="131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None/>
            </a:pPr>
            <a:r>
              <a:rPr b="1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UX / Метрики </a:t>
            </a:r>
            <a:endParaRPr b="0" i="0" sz="1000" u="none" cap="none" strike="noStrike"/>
          </a:p>
        </p:txBody>
      </p:sp>
      <p:sp>
        <p:nvSpPr>
          <p:cNvPr id="333" name="Google Shape;333;p22"/>
          <p:cNvSpPr/>
          <p:nvPr/>
        </p:nvSpPr>
        <p:spPr>
          <a:xfrm>
            <a:off x="4623867" y="2925589"/>
            <a:ext cx="1932831" cy="5271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None/>
            </a:pPr>
            <a:r>
              <a:rPr b="0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Customer development, сценарии использования, продуктовые метрики и удержание пользователей.</a:t>
            </a:r>
            <a:endParaRPr b="0" i="0" sz="1000" u="none" cap="none" strike="noStrike"/>
          </a:p>
        </p:txBody>
      </p:sp>
      <p:pic>
        <p:nvPicPr>
          <p:cNvPr descr="preencoded.png" id="334" name="Google Shape;334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92955" y="1865154"/>
            <a:ext cx="552748" cy="552748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2"/>
          <p:cNvSpPr/>
          <p:nvPr/>
        </p:nvSpPr>
        <p:spPr>
          <a:xfrm>
            <a:off x="6660505" y="2516535"/>
            <a:ext cx="1530102" cy="177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Sales B2B — найм M3</a:t>
            </a:r>
            <a:endParaRPr b="0" i="0" sz="1100" u="none" cap="none" strike="noStrike"/>
          </a:p>
        </p:txBody>
      </p:sp>
      <p:sp>
        <p:nvSpPr>
          <p:cNvPr id="336" name="Google Shape;336;p22"/>
          <p:cNvSpPr/>
          <p:nvPr/>
        </p:nvSpPr>
        <p:spPr>
          <a:xfrm>
            <a:off x="6660505" y="2743944"/>
            <a:ext cx="1932831" cy="131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None/>
            </a:pPr>
            <a:r>
              <a:rPr b="1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Партнёрства</a:t>
            </a:r>
            <a:endParaRPr b="0" i="0" sz="1000" u="none" cap="none" strike="noStrike"/>
          </a:p>
        </p:txBody>
      </p:sp>
      <p:sp>
        <p:nvSpPr>
          <p:cNvPr id="337" name="Google Shape;337;p22"/>
          <p:cNvSpPr/>
          <p:nvPr/>
        </p:nvSpPr>
        <p:spPr>
          <a:xfrm>
            <a:off x="6660505" y="2925589"/>
            <a:ext cx="1932831" cy="5271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None/>
            </a:pPr>
            <a:r>
              <a:rPr b="0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Воронка МСБ, работа с бухгалтерами, банками и регионами. Запуск канала B2B2B через банковские экосистемы.</a:t>
            </a:r>
            <a:endParaRPr b="0" i="0" sz="1000" u="none" cap="none" strike="noStrike"/>
          </a:p>
        </p:txBody>
      </p:sp>
      <p:sp>
        <p:nvSpPr>
          <p:cNvPr id="338" name="Google Shape;338;p22"/>
          <p:cNvSpPr/>
          <p:nvPr/>
        </p:nvSpPr>
        <p:spPr>
          <a:xfrm>
            <a:off x="458614" y="3684571"/>
            <a:ext cx="4049400" cy="987000"/>
          </a:xfrm>
          <a:prstGeom prst="roundRect">
            <a:avLst>
              <a:gd fmla="val 31092" name="adj"/>
            </a:avLst>
          </a:prstGeom>
          <a:solidFill>
            <a:srgbClr val="124DF0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2"/>
          <p:cNvSpPr/>
          <p:nvPr/>
        </p:nvSpPr>
        <p:spPr>
          <a:xfrm>
            <a:off x="1446684" y="3854160"/>
            <a:ext cx="20733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F0FCFF"/>
                </a:solidFill>
                <a:latin typeface="Inter"/>
                <a:ea typeface="Inter"/>
                <a:cs typeface="Inter"/>
                <a:sym typeface="Inter"/>
              </a:rPr>
              <a:t>План команды после раунда</a:t>
            </a:r>
            <a:endParaRPr b="0" i="0" sz="1100" u="none" cap="none" strike="noStrike"/>
          </a:p>
        </p:txBody>
      </p:sp>
      <p:sp>
        <p:nvSpPr>
          <p:cNvPr id="340" name="Google Shape;340;p22"/>
          <p:cNvSpPr/>
          <p:nvPr/>
        </p:nvSpPr>
        <p:spPr>
          <a:xfrm>
            <a:off x="586457" y="4114758"/>
            <a:ext cx="37938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 Tight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6 человек</a:t>
            </a:r>
            <a:r>
              <a:rPr b="0" i="0" lang="en-US" sz="100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 — ФОТ 62,46 млн ₸ на 18 месяцев. Структура покрывает все критические направления: технологии, продукт, продажи и compliance.</a:t>
            </a:r>
            <a:endParaRPr b="0" i="0" sz="1000" u="none" cap="none" strike="noStrike"/>
          </a:p>
        </p:txBody>
      </p:sp>
      <p:sp>
        <p:nvSpPr>
          <p:cNvPr id="341" name="Google Shape;341;p22"/>
          <p:cNvSpPr/>
          <p:nvPr/>
        </p:nvSpPr>
        <p:spPr>
          <a:xfrm>
            <a:off x="4732734" y="3767617"/>
            <a:ext cx="2131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F0FCFF"/>
                </a:solidFill>
                <a:latin typeface="Inter"/>
                <a:ea typeface="Inter"/>
                <a:cs typeface="Inter"/>
                <a:sym typeface="Inter"/>
              </a:rPr>
              <a:t>Использование раунда $210k</a:t>
            </a:r>
            <a:endParaRPr b="0" i="0" sz="1100" u="none" cap="none" strike="noStrike"/>
          </a:p>
        </p:txBody>
      </p:sp>
      <p:sp>
        <p:nvSpPr>
          <p:cNvPr id="342" name="Google Shape;342;p22"/>
          <p:cNvSpPr/>
          <p:nvPr/>
        </p:nvSpPr>
        <p:spPr>
          <a:xfrm>
            <a:off x="4732734" y="4028215"/>
            <a:ext cx="38655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Char char="•"/>
            </a:pPr>
            <a:r>
              <a:rPr b="0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ФОТ команды (18 мес.) — ~62,5 млн ₸</a:t>
            </a:r>
            <a:endParaRPr b="0" i="0" sz="1000" u="none" cap="none" strike="noStrike"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Char char="•"/>
            </a:pPr>
            <a:r>
              <a:rPr b="0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Инфраструктура и безопасность — VPC, KMS, аудит</a:t>
            </a:r>
            <a:endParaRPr b="0" i="0" sz="1000" u="none" cap="none" strike="noStrike"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Char char="•"/>
            </a:pPr>
            <a:r>
              <a:rPr b="0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Маркетинг и привлечение первых 1 000 клиентов</a:t>
            </a:r>
            <a:endParaRPr b="0" i="0" sz="1000" u="none" cap="none" strike="noStrike"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Char char="•"/>
            </a:pPr>
            <a:r>
              <a:rPr b="0" i="0" lang="en-US" sz="10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Юридическое сопровождение AISP-лицензирования</a:t>
            </a:r>
            <a:endParaRPr b="0" i="0" sz="1000" u="none" cap="none" strike="noStrik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3"/>
          <p:cNvSpPr/>
          <p:nvPr/>
        </p:nvSpPr>
        <p:spPr>
          <a:xfrm>
            <a:off x="583875" y="576700"/>
            <a:ext cx="51900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1850"/>
              <a:buFont typeface="Inter"/>
              <a:buNone/>
            </a:pPr>
            <a:r>
              <a:rPr b="1" i="0" lang="en-US" sz="2250" u="none" cap="none" strike="noStrike">
                <a:solidFill>
                  <a:srgbClr val="F0FCFF"/>
                </a:solidFill>
                <a:latin typeface="Inter"/>
                <a:ea typeface="Inter"/>
                <a:cs typeface="Inter"/>
                <a:sym typeface="Inter"/>
              </a:rPr>
              <a:t>Раунд инвестиций: $210K за 10%</a:t>
            </a:r>
            <a:endParaRPr b="0" i="0" sz="2250" u="none" cap="none" strike="noStrike"/>
          </a:p>
        </p:txBody>
      </p:sp>
      <p:sp>
        <p:nvSpPr>
          <p:cNvPr id="349" name="Google Shape;349;p23"/>
          <p:cNvSpPr/>
          <p:nvPr/>
        </p:nvSpPr>
        <p:spPr>
          <a:xfrm>
            <a:off x="583834" y="1086880"/>
            <a:ext cx="82320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None/>
            </a:pPr>
            <a:r>
              <a:rPr b="0" i="0" lang="en-US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Привлекаем </a:t>
            </a:r>
            <a:r>
              <a:rPr b="1" i="0" lang="en-US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$210 000</a:t>
            </a:r>
            <a:r>
              <a:rPr b="0" i="0" lang="en-US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 (105 млн ₸) за 10% долю с оценкой $2,1M post-money ($1,89M pre-money) для обеспечения runway на 18 месяцев и выхода к масштабируемым продажам. Инструмент: equity или SAFE cap $2,1M.</a:t>
            </a:r>
            <a:endParaRPr b="0" i="0" u="none" cap="none" strike="noStrike"/>
          </a:p>
        </p:txBody>
      </p:sp>
      <p:sp>
        <p:nvSpPr>
          <p:cNvPr id="350" name="Google Shape;350;p23"/>
          <p:cNvSpPr/>
          <p:nvPr/>
        </p:nvSpPr>
        <p:spPr>
          <a:xfrm>
            <a:off x="5215976" y="2030450"/>
            <a:ext cx="40599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None/>
            </a:pPr>
            <a:r>
              <a:rPr b="0" i="0" lang="en-US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Отсканируйте QR-код ниже</a:t>
            </a:r>
            <a:endParaRPr b="0" i="0" u="none" cap="none" strike="noStrike">
              <a:solidFill>
                <a:srgbClr val="E0E4E6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Inter Tight"/>
              <a:buNone/>
            </a:pPr>
            <a:r>
              <a:rPr b="0" i="0" lang="en-US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 для просмотра demo-продукта</a:t>
            </a:r>
            <a:endParaRPr b="0" i="0" u="none" cap="none" strike="noStrike"/>
          </a:p>
        </p:txBody>
      </p:sp>
      <p:pic>
        <p:nvPicPr>
          <p:cNvPr descr="preencoded.png" id="351" name="Google Shape;35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8401" y="2637973"/>
            <a:ext cx="1835050" cy="183505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3"/>
          <p:cNvSpPr/>
          <p:nvPr/>
        </p:nvSpPr>
        <p:spPr>
          <a:xfrm>
            <a:off x="583876" y="1971950"/>
            <a:ext cx="36765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1450"/>
              <a:buFont typeface="Inter"/>
              <a:buNone/>
            </a:pPr>
            <a:r>
              <a:rPr b="1" i="0" lang="en-US" sz="1850" u="none" cap="none" strike="noStrike">
                <a:solidFill>
                  <a:srgbClr val="F0FCFF"/>
                </a:solidFill>
                <a:latin typeface="Inter"/>
                <a:ea typeface="Inter"/>
                <a:cs typeface="Inter"/>
                <a:sym typeface="Inter"/>
              </a:rPr>
              <a:t>Контрольные точки раунда</a:t>
            </a:r>
            <a:endParaRPr b="0" i="0" sz="1850" u="none" cap="none" strike="noStrike"/>
          </a:p>
        </p:txBody>
      </p:sp>
      <p:sp>
        <p:nvSpPr>
          <p:cNvPr id="353" name="Google Shape;353;p23"/>
          <p:cNvSpPr/>
          <p:nvPr/>
        </p:nvSpPr>
        <p:spPr>
          <a:xfrm>
            <a:off x="663299" y="2351608"/>
            <a:ext cx="15900" cy="2245200"/>
          </a:xfrm>
          <a:prstGeom prst="roundRect">
            <a:avLst>
              <a:gd fmla="val 1111517" name="adj"/>
            </a:avLst>
          </a:prstGeom>
          <a:solidFill>
            <a:srgbClr val="FFFFFF">
              <a:alpha val="23921"/>
            </a:srgbClr>
          </a:solidFill>
          <a:ln>
            <a:noFill/>
          </a:ln>
        </p:spPr>
        <p:txBody>
          <a:bodyPr anchorCtr="0" anchor="ctr" bIns="100000" lIns="100000" spcFirstLastPara="1" rIns="100000" wrap="square" tIns="10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69"/>
          </a:p>
        </p:txBody>
      </p:sp>
      <p:sp>
        <p:nvSpPr>
          <p:cNvPr id="354" name="Google Shape;354;p23"/>
          <p:cNvSpPr/>
          <p:nvPr/>
        </p:nvSpPr>
        <p:spPr>
          <a:xfrm>
            <a:off x="777944" y="2474026"/>
            <a:ext cx="347400" cy="15900"/>
          </a:xfrm>
          <a:prstGeom prst="roundRect">
            <a:avLst>
              <a:gd fmla="val 1111517" name="adj"/>
            </a:avLst>
          </a:prstGeom>
          <a:solidFill>
            <a:srgbClr val="16FFBB"/>
          </a:solidFill>
          <a:ln>
            <a:noFill/>
          </a:ln>
        </p:spPr>
        <p:txBody>
          <a:bodyPr anchorCtr="0" anchor="ctr" bIns="100000" lIns="100000" spcFirstLastPara="1" rIns="100000" wrap="square" tIns="10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69"/>
          </a:p>
        </p:txBody>
      </p:sp>
      <p:sp>
        <p:nvSpPr>
          <p:cNvPr id="355" name="Google Shape;355;p23"/>
          <p:cNvSpPr/>
          <p:nvPr/>
        </p:nvSpPr>
        <p:spPr>
          <a:xfrm>
            <a:off x="533025" y="2351608"/>
            <a:ext cx="260400" cy="260400"/>
          </a:xfrm>
          <a:prstGeom prst="roundRect">
            <a:avLst>
              <a:gd fmla="val 66673" name="adj"/>
            </a:avLst>
          </a:prstGeom>
          <a:solidFill>
            <a:srgbClr val="0A081B"/>
          </a:solidFill>
          <a:ln cap="flat" cmpd="sng" w="10425">
            <a:solidFill>
              <a:srgbClr val="16FF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00" lIns="100000" spcFirstLastPara="1" rIns="100000" wrap="square" tIns="10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69"/>
          </a:p>
        </p:txBody>
      </p:sp>
      <p:sp>
        <p:nvSpPr>
          <p:cNvPr id="356" name="Google Shape;356;p23"/>
          <p:cNvSpPr/>
          <p:nvPr/>
        </p:nvSpPr>
        <p:spPr>
          <a:xfrm>
            <a:off x="586055" y="2385347"/>
            <a:ext cx="1545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3"/>
              <a:buFont typeface="Inter"/>
              <a:buNone/>
            </a:pPr>
            <a:r>
              <a:rPr b="1" i="0" lang="en-US" sz="1641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641" u="none" cap="none" strike="noStrike"/>
          </a:p>
        </p:txBody>
      </p:sp>
      <p:sp>
        <p:nvSpPr>
          <p:cNvPr id="357" name="Google Shape;357;p23"/>
          <p:cNvSpPr/>
          <p:nvPr/>
        </p:nvSpPr>
        <p:spPr>
          <a:xfrm>
            <a:off x="1232330" y="2387983"/>
            <a:ext cx="2526600" cy="1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900"/>
              <a:buFont typeface="Inter"/>
              <a:buNone/>
            </a:pPr>
            <a:r>
              <a:rPr b="1" i="0" lang="en-US" sz="130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AISP / Open API контур live</a:t>
            </a:r>
            <a:endParaRPr b="0" i="0" sz="1300" u="none" cap="none" strike="noStrike"/>
          </a:p>
        </p:txBody>
      </p:sp>
      <p:sp>
        <p:nvSpPr>
          <p:cNvPr id="358" name="Google Shape;358;p23"/>
          <p:cNvSpPr/>
          <p:nvPr/>
        </p:nvSpPr>
        <p:spPr>
          <a:xfrm>
            <a:off x="1232317" y="2598693"/>
            <a:ext cx="7583400" cy="1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800"/>
              <a:buFont typeface="Inter Tight"/>
              <a:buNone/>
            </a:pPr>
            <a:r>
              <a:rPr b="0" i="0" lang="en-US" sz="12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Запуск контура для интеграции с банками и другими сервисами.</a:t>
            </a:r>
            <a:endParaRPr b="0" i="0" sz="1200" u="none" cap="none" strike="noStrike"/>
          </a:p>
        </p:txBody>
      </p:sp>
      <p:sp>
        <p:nvSpPr>
          <p:cNvPr id="359" name="Google Shape;359;p23"/>
          <p:cNvSpPr/>
          <p:nvPr/>
        </p:nvSpPr>
        <p:spPr>
          <a:xfrm>
            <a:off x="777944" y="2947987"/>
            <a:ext cx="347400" cy="15900"/>
          </a:xfrm>
          <a:prstGeom prst="roundRect">
            <a:avLst>
              <a:gd fmla="val 1111517" name="adj"/>
            </a:avLst>
          </a:prstGeom>
          <a:solidFill>
            <a:srgbClr val="29DDDA"/>
          </a:solidFill>
          <a:ln>
            <a:noFill/>
          </a:ln>
        </p:spPr>
        <p:txBody>
          <a:bodyPr anchorCtr="0" anchor="ctr" bIns="100000" lIns="100000" spcFirstLastPara="1" rIns="100000" wrap="square" tIns="10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69"/>
          </a:p>
        </p:txBody>
      </p:sp>
      <p:sp>
        <p:nvSpPr>
          <p:cNvPr id="360" name="Google Shape;360;p23"/>
          <p:cNvSpPr/>
          <p:nvPr/>
        </p:nvSpPr>
        <p:spPr>
          <a:xfrm>
            <a:off x="533025" y="2825569"/>
            <a:ext cx="260400" cy="260400"/>
          </a:xfrm>
          <a:prstGeom prst="roundRect">
            <a:avLst>
              <a:gd fmla="val 66673" name="adj"/>
            </a:avLst>
          </a:prstGeom>
          <a:solidFill>
            <a:srgbClr val="0A081B"/>
          </a:solidFill>
          <a:ln cap="flat" cmpd="sng" w="10425">
            <a:solidFill>
              <a:srgbClr val="29DD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00" lIns="100000" spcFirstLastPara="1" rIns="100000" wrap="square" tIns="10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69"/>
          </a:p>
        </p:txBody>
      </p:sp>
      <p:sp>
        <p:nvSpPr>
          <p:cNvPr id="361" name="Google Shape;361;p23"/>
          <p:cNvSpPr/>
          <p:nvPr/>
        </p:nvSpPr>
        <p:spPr>
          <a:xfrm>
            <a:off x="586055" y="2859308"/>
            <a:ext cx="1545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3"/>
              <a:buFont typeface="Inter"/>
              <a:buNone/>
            </a:pPr>
            <a:r>
              <a:rPr b="1" i="0" lang="en-US" sz="1641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641" u="none" cap="none" strike="noStrike"/>
          </a:p>
        </p:txBody>
      </p:sp>
      <p:sp>
        <p:nvSpPr>
          <p:cNvPr id="362" name="Google Shape;362;p23"/>
          <p:cNvSpPr/>
          <p:nvPr/>
        </p:nvSpPr>
        <p:spPr>
          <a:xfrm>
            <a:off x="1232324" y="2860646"/>
            <a:ext cx="36765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900"/>
              <a:buFont typeface="Inter"/>
              <a:buNone/>
            </a:pPr>
            <a:r>
              <a:rPr b="1" i="0" lang="en-US" sz="130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3 000 платящих клиентов к M18</a:t>
            </a:r>
            <a:endParaRPr b="0" i="0" sz="1300" u="none" cap="none" strike="noStrike"/>
          </a:p>
        </p:txBody>
      </p:sp>
      <p:sp>
        <p:nvSpPr>
          <p:cNvPr id="363" name="Google Shape;363;p23"/>
          <p:cNvSpPr/>
          <p:nvPr/>
        </p:nvSpPr>
        <p:spPr>
          <a:xfrm>
            <a:off x="1232317" y="3071345"/>
            <a:ext cx="7583400" cy="1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800"/>
              <a:buFont typeface="Inter Tight"/>
              <a:buNone/>
            </a:pPr>
            <a:r>
              <a:rPr b="0" i="0" lang="en-US" sz="12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Достижение ключевого показателя роста клиентской базы.</a:t>
            </a:r>
            <a:endParaRPr b="0" i="0" sz="1200" u="none" cap="none" strike="noStrike"/>
          </a:p>
        </p:txBody>
      </p:sp>
      <p:sp>
        <p:nvSpPr>
          <p:cNvPr id="364" name="Google Shape;364;p23"/>
          <p:cNvSpPr/>
          <p:nvPr/>
        </p:nvSpPr>
        <p:spPr>
          <a:xfrm>
            <a:off x="777944" y="3421948"/>
            <a:ext cx="347400" cy="15900"/>
          </a:xfrm>
          <a:prstGeom prst="roundRect">
            <a:avLst>
              <a:gd fmla="val 1111517" name="adj"/>
            </a:avLst>
          </a:prstGeom>
          <a:solidFill>
            <a:srgbClr val="37A7E7"/>
          </a:solidFill>
          <a:ln>
            <a:noFill/>
          </a:ln>
        </p:spPr>
        <p:txBody>
          <a:bodyPr anchorCtr="0" anchor="ctr" bIns="100000" lIns="100000" spcFirstLastPara="1" rIns="100000" wrap="square" tIns="10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69"/>
          </a:p>
        </p:txBody>
      </p:sp>
      <p:sp>
        <p:nvSpPr>
          <p:cNvPr id="365" name="Google Shape;365;p23"/>
          <p:cNvSpPr/>
          <p:nvPr/>
        </p:nvSpPr>
        <p:spPr>
          <a:xfrm>
            <a:off x="533025" y="3299530"/>
            <a:ext cx="260400" cy="260400"/>
          </a:xfrm>
          <a:prstGeom prst="roundRect">
            <a:avLst>
              <a:gd fmla="val 66673" name="adj"/>
            </a:avLst>
          </a:prstGeom>
          <a:solidFill>
            <a:srgbClr val="0A081B"/>
          </a:solidFill>
          <a:ln cap="flat" cmpd="sng" w="10425">
            <a:solidFill>
              <a:srgbClr val="37A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00" lIns="100000" spcFirstLastPara="1" rIns="100000" wrap="square" tIns="10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69"/>
          </a:p>
        </p:txBody>
      </p:sp>
      <p:sp>
        <p:nvSpPr>
          <p:cNvPr id="366" name="Google Shape;366;p23"/>
          <p:cNvSpPr/>
          <p:nvPr/>
        </p:nvSpPr>
        <p:spPr>
          <a:xfrm>
            <a:off x="586055" y="3333269"/>
            <a:ext cx="1545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3"/>
              <a:buFont typeface="Inter"/>
              <a:buNone/>
            </a:pPr>
            <a:r>
              <a:rPr b="1" i="0" lang="en-US" sz="1641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641" u="none" cap="none" strike="noStrike"/>
          </a:p>
        </p:txBody>
      </p:sp>
      <p:sp>
        <p:nvSpPr>
          <p:cNvPr id="367" name="Google Shape;367;p23"/>
          <p:cNvSpPr/>
          <p:nvPr/>
        </p:nvSpPr>
        <p:spPr>
          <a:xfrm>
            <a:off x="1232332" y="3293942"/>
            <a:ext cx="21036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900"/>
              <a:buFont typeface="Inter"/>
              <a:buNone/>
            </a:pPr>
            <a:r>
              <a:rPr b="1" i="0" lang="en-US" sz="130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ARR ≈ 200 млн ₸</a:t>
            </a:r>
            <a:endParaRPr b="0" i="0" sz="1300" u="none" cap="none" strike="noStrike"/>
          </a:p>
        </p:txBody>
      </p:sp>
      <p:sp>
        <p:nvSpPr>
          <p:cNvPr id="368" name="Google Shape;368;p23"/>
          <p:cNvSpPr/>
          <p:nvPr/>
        </p:nvSpPr>
        <p:spPr>
          <a:xfrm>
            <a:off x="1232317" y="3504658"/>
            <a:ext cx="7583400" cy="1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800"/>
              <a:buFont typeface="Inter Tight"/>
              <a:buNone/>
            </a:pPr>
            <a:r>
              <a:rPr b="0" i="0" lang="en-US" sz="12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Годовой регулярный доход на уровне 200 миллионов тенге.</a:t>
            </a:r>
            <a:endParaRPr b="0" i="0" sz="1200" u="none" cap="none" strike="noStrike"/>
          </a:p>
        </p:txBody>
      </p:sp>
      <p:sp>
        <p:nvSpPr>
          <p:cNvPr id="369" name="Google Shape;369;p23"/>
          <p:cNvSpPr/>
          <p:nvPr/>
        </p:nvSpPr>
        <p:spPr>
          <a:xfrm>
            <a:off x="777944" y="3895909"/>
            <a:ext cx="347400" cy="15900"/>
          </a:xfrm>
          <a:prstGeom prst="roundRect">
            <a:avLst>
              <a:gd fmla="val 1111517" name="adj"/>
            </a:avLst>
          </a:prstGeom>
          <a:solidFill>
            <a:srgbClr val="BB1DE1"/>
          </a:solidFill>
          <a:ln>
            <a:noFill/>
          </a:ln>
        </p:spPr>
        <p:txBody>
          <a:bodyPr anchorCtr="0" anchor="ctr" bIns="100000" lIns="100000" spcFirstLastPara="1" rIns="100000" wrap="square" tIns="10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69"/>
          </a:p>
        </p:txBody>
      </p:sp>
      <p:sp>
        <p:nvSpPr>
          <p:cNvPr id="370" name="Google Shape;370;p23"/>
          <p:cNvSpPr/>
          <p:nvPr/>
        </p:nvSpPr>
        <p:spPr>
          <a:xfrm>
            <a:off x="533025" y="3773492"/>
            <a:ext cx="260400" cy="260400"/>
          </a:xfrm>
          <a:prstGeom prst="roundRect">
            <a:avLst>
              <a:gd fmla="val 66673" name="adj"/>
            </a:avLst>
          </a:prstGeom>
          <a:solidFill>
            <a:srgbClr val="0A081B"/>
          </a:solidFill>
          <a:ln cap="flat" cmpd="sng" w="10425">
            <a:solidFill>
              <a:srgbClr val="BB1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00" lIns="100000" spcFirstLastPara="1" rIns="100000" wrap="square" tIns="10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69"/>
          </a:p>
        </p:txBody>
      </p:sp>
      <p:sp>
        <p:nvSpPr>
          <p:cNvPr id="371" name="Google Shape;371;p23"/>
          <p:cNvSpPr/>
          <p:nvPr/>
        </p:nvSpPr>
        <p:spPr>
          <a:xfrm>
            <a:off x="586055" y="3807230"/>
            <a:ext cx="1545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3"/>
              <a:buFont typeface="Inter"/>
              <a:buNone/>
            </a:pPr>
            <a:r>
              <a:rPr b="1" i="0" lang="en-US" sz="1641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1641" u="none" cap="none" strike="noStrike"/>
          </a:p>
        </p:txBody>
      </p:sp>
      <p:sp>
        <p:nvSpPr>
          <p:cNvPr id="372" name="Google Shape;372;p23"/>
          <p:cNvSpPr/>
          <p:nvPr/>
        </p:nvSpPr>
        <p:spPr>
          <a:xfrm>
            <a:off x="1232330" y="3727272"/>
            <a:ext cx="2457600" cy="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900"/>
              <a:buFont typeface="Inter"/>
              <a:buNone/>
            </a:pPr>
            <a:r>
              <a:rPr b="1" i="0" lang="en-US" sz="130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EBITDA-positive с M16-M18</a:t>
            </a:r>
            <a:endParaRPr b="0" i="0" sz="1300" u="none" cap="none" strike="noStrike"/>
          </a:p>
        </p:txBody>
      </p:sp>
      <p:sp>
        <p:nvSpPr>
          <p:cNvPr id="373" name="Google Shape;373;p23"/>
          <p:cNvSpPr/>
          <p:nvPr/>
        </p:nvSpPr>
        <p:spPr>
          <a:xfrm>
            <a:off x="1232317" y="3937971"/>
            <a:ext cx="7583400" cy="1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800"/>
              <a:buFont typeface="Inter Tight"/>
              <a:buNone/>
            </a:pPr>
            <a:r>
              <a:rPr b="0" i="0" lang="en-US" sz="12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Выход на операционную прибыльность в течение 16-18 месяцев.</a:t>
            </a:r>
            <a:endParaRPr b="0" i="0" sz="1200" u="none" cap="none" strike="noStrike"/>
          </a:p>
        </p:txBody>
      </p:sp>
      <p:sp>
        <p:nvSpPr>
          <p:cNvPr id="374" name="Google Shape;374;p23"/>
          <p:cNvSpPr/>
          <p:nvPr/>
        </p:nvSpPr>
        <p:spPr>
          <a:xfrm>
            <a:off x="777944" y="4369871"/>
            <a:ext cx="347400" cy="15900"/>
          </a:xfrm>
          <a:prstGeom prst="roundRect">
            <a:avLst>
              <a:gd fmla="val 1111517" name="adj"/>
            </a:avLst>
          </a:prstGeom>
          <a:solidFill>
            <a:srgbClr val="16FFBB"/>
          </a:solidFill>
          <a:ln>
            <a:noFill/>
          </a:ln>
        </p:spPr>
        <p:txBody>
          <a:bodyPr anchorCtr="0" anchor="ctr" bIns="100000" lIns="100000" spcFirstLastPara="1" rIns="100000" wrap="square" tIns="10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69"/>
          </a:p>
        </p:txBody>
      </p:sp>
      <p:sp>
        <p:nvSpPr>
          <p:cNvPr id="375" name="Google Shape;375;p23"/>
          <p:cNvSpPr/>
          <p:nvPr/>
        </p:nvSpPr>
        <p:spPr>
          <a:xfrm>
            <a:off x="533025" y="4247453"/>
            <a:ext cx="260400" cy="260400"/>
          </a:xfrm>
          <a:prstGeom prst="roundRect">
            <a:avLst>
              <a:gd fmla="val 66673" name="adj"/>
            </a:avLst>
          </a:prstGeom>
          <a:solidFill>
            <a:srgbClr val="0A081B"/>
          </a:solidFill>
          <a:ln cap="flat" cmpd="sng" w="10425">
            <a:solidFill>
              <a:srgbClr val="16FF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00" lIns="100000" spcFirstLastPara="1" rIns="100000" wrap="square" tIns="10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69"/>
          </a:p>
        </p:txBody>
      </p:sp>
      <p:sp>
        <p:nvSpPr>
          <p:cNvPr id="376" name="Google Shape;376;p23"/>
          <p:cNvSpPr/>
          <p:nvPr/>
        </p:nvSpPr>
        <p:spPr>
          <a:xfrm>
            <a:off x="586055" y="4281191"/>
            <a:ext cx="1545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203"/>
              <a:buFont typeface="Inter"/>
              <a:buNone/>
            </a:pPr>
            <a:r>
              <a:rPr b="1" i="0" lang="en-US" sz="1641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0" i="0" sz="1641" u="none" cap="none" strike="noStrike"/>
          </a:p>
        </p:txBody>
      </p:sp>
      <p:sp>
        <p:nvSpPr>
          <p:cNvPr id="377" name="Google Shape;377;p23"/>
          <p:cNvSpPr/>
          <p:nvPr/>
        </p:nvSpPr>
        <p:spPr>
          <a:xfrm>
            <a:off x="1232329" y="4160563"/>
            <a:ext cx="24576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900"/>
              <a:buFont typeface="Inter"/>
              <a:buNone/>
            </a:pPr>
            <a:r>
              <a:rPr b="1" i="0" lang="en-US" sz="1300" u="none" cap="none" strike="noStrike">
                <a:solidFill>
                  <a:srgbClr val="E0E4E6"/>
                </a:solidFill>
                <a:latin typeface="Inter"/>
                <a:ea typeface="Inter"/>
                <a:cs typeface="Inter"/>
                <a:sym typeface="Inter"/>
              </a:rPr>
              <a:t>Готовность к Series A $1-3M</a:t>
            </a:r>
            <a:endParaRPr b="0" i="0" sz="1300" u="none" cap="none" strike="noStrike"/>
          </a:p>
        </p:txBody>
      </p:sp>
      <p:sp>
        <p:nvSpPr>
          <p:cNvPr id="378" name="Google Shape;378;p23"/>
          <p:cNvSpPr/>
          <p:nvPr/>
        </p:nvSpPr>
        <p:spPr>
          <a:xfrm>
            <a:off x="1232317" y="4371284"/>
            <a:ext cx="7583400" cy="1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800"/>
              <a:buFont typeface="Inter Tight"/>
              <a:buNone/>
            </a:pPr>
            <a:r>
              <a:rPr b="0" i="0" lang="en-US" sz="1200" u="none" cap="none" strike="noStrike">
                <a:solidFill>
                  <a:srgbClr val="E0E4E6"/>
                </a:solidFill>
                <a:latin typeface="Inter Tight"/>
                <a:ea typeface="Inter Tight"/>
                <a:cs typeface="Inter Tight"/>
                <a:sym typeface="Inter Tight"/>
              </a:rPr>
              <a:t>Подготовка компании к следующему раунду финансирования.</a:t>
            </a:r>
            <a:endParaRPr b="0" i="0" sz="120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Finvy - AI Finance</dc:title>
  <dc:creator>Finvy</dc:creator>
  <cp:lastModifiedBy>Codex</cp:lastModifiedBy>
  <dcterms:created xsi:type="dcterms:W3CDTF">2026-05-06T08:50:19Z</dcterms:created>
  <dcterms:modified xsi:type="dcterms:W3CDTF">2026-05-06T08:50:19Z</dcterms:modified>
</cp:coreProperties>
</file>